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62" r:id="rId9"/>
    <p:sldId id="263" r:id="rId10"/>
    <p:sldId id="276" r:id="rId11"/>
    <p:sldId id="286" r:id="rId12"/>
    <p:sldId id="264" r:id="rId13"/>
    <p:sldId id="274" r:id="rId14"/>
    <p:sldId id="265" r:id="rId15"/>
    <p:sldId id="277" r:id="rId16"/>
    <p:sldId id="278" r:id="rId17"/>
    <p:sldId id="266" r:id="rId18"/>
    <p:sldId id="272" r:id="rId19"/>
    <p:sldId id="279" r:id="rId20"/>
    <p:sldId id="280" r:id="rId21"/>
    <p:sldId id="281" r:id="rId22"/>
    <p:sldId id="268" r:id="rId23"/>
    <p:sldId id="282" r:id="rId24"/>
    <p:sldId id="283" r:id="rId25"/>
    <p:sldId id="284" r:id="rId26"/>
    <p:sldId id="285" r:id="rId27"/>
    <p:sldId id="275" r:id="rId28"/>
    <p:sldId id="271" r:id="rId29"/>
  </p:sldIdLst>
  <p:sldSz cx="12801600" cy="7315200"/>
  <p:notesSz cx="128016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51" autoAdjust="0"/>
    <p:restoredTop sz="94660"/>
  </p:normalViewPr>
  <p:slideViewPr>
    <p:cSldViewPr>
      <p:cViewPr varScale="1">
        <p:scale>
          <a:sx n="71" d="100"/>
          <a:sy n="71" d="100"/>
        </p:scale>
        <p:origin x="653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546725" cy="366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7251700" y="0"/>
            <a:ext cx="5546725" cy="366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AEC4FA-AC7B-4771-9D83-2E99A17F9DF0}" type="datetimeFigureOut">
              <a:rPr lang="it-IT" smtClean="0"/>
              <a:t>23/02/2026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40213" y="914400"/>
            <a:ext cx="4321175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1279525" y="3521075"/>
            <a:ext cx="10242550" cy="28797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948488"/>
            <a:ext cx="5546725" cy="366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7251700" y="6948488"/>
            <a:ext cx="5546725" cy="366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9A4425-E4FA-4828-A160-FBB4C327BEC0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60952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0120" y="2267712"/>
            <a:ext cx="108813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20240" y="4096512"/>
            <a:ext cx="89611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E3410-4181-4072-89DC-6E3EB3640FCB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90F5C-23FC-46E6-81B9-4D3E99E6FED6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40080" y="1682496"/>
            <a:ext cx="556869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92824" y="1682496"/>
            <a:ext cx="556869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4B1FA-E7DC-46CD-9DCA-9052D4E28756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51C26-0738-420F-BBBB-0FC54107F064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12A08-6A51-4778-947C-65C48D53731F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4875" y="146113"/>
            <a:ext cx="10991850" cy="7696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89989" y="3385583"/>
            <a:ext cx="10881995" cy="2898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52544" y="6803136"/>
            <a:ext cx="409651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40080" y="6803136"/>
            <a:ext cx="294436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5A4A7-461B-4978-971A-BA50AFC562D0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17152" y="6803136"/>
            <a:ext cx="294436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025" y="2420620"/>
            <a:ext cx="11739245" cy="1170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0" dirty="0"/>
              <a:t>Sequential</a:t>
            </a:r>
            <a:r>
              <a:rPr sz="7500" spc="-45" dirty="0"/>
              <a:t> </a:t>
            </a:r>
            <a:r>
              <a:rPr sz="7500" dirty="0"/>
              <a:t>Testing</a:t>
            </a:r>
            <a:r>
              <a:rPr sz="7500" spc="-5" dirty="0"/>
              <a:t> </a:t>
            </a:r>
            <a:r>
              <a:rPr sz="7500" spc="-10" dirty="0"/>
              <a:t>Problem</a:t>
            </a:r>
            <a:endParaRPr sz="7500" dirty="0"/>
          </a:p>
        </p:txBody>
      </p:sp>
      <p:sp>
        <p:nvSpPr>
          <p:cNvPr id="3" name="object 3"/>
          <p:cNvSpPr txBox="1"/>
          <p:nvPr/>
        </p:nvSpPr>
        <p:spPr>
          <a:xfrm>
            <a:off x="1830704" y="4172204"/>
            <a:ext cx="9140190" cy="15081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3950" dirty="0">
                <a:solidFill>
                  <a:srgbClr val="0000CC"/>
                </a:solidFill>
                <a:latin typeface="Arial MT"/>
                <a:cs typeface="Arial MT"/>
              </a:rPr>
              <a:t>Decision</a:t>
            </a:r>
            <a:r>
              <a:rPr sz="3950" spc="3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0000CC"/>
                </a:solidFill>
                <a:latin typeface="Arial MT"/>
                <a:cs typeface="Arial MT"/>
              </a:rPr>
              <a:t>Support</a:t>
            </a:r>
            <a:r>
              <a:rPr sz="3950" spc="11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0000CC"/>
                </a:solidFill>
                <a:latin typeface="Arial MT"/>
                <a:cs typeface="Arial MT"/>
              </a:rPr>
              <a:t>Systems</a:t>
            </a:r>
            <a:r>
              <a:rPr sz="3950" spc="4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0000CC"/>
                </a:solidFill>
                <a:latin typeface="Arial MT"/>
                <a:cs typeface="Arial MT"/>
              </a:rPr>
              <a:t>and</a:t>
            </a:r>
            <a:r>
              <a:rPr sz="3950" spc="5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3950" spc="-10" dirty="0">
                <a:solidFill>
                  <a:srgbClr val="0000CC"/>
                </a:solidFill>
                <a:latin typeface="Arial MT"/>
                <a:cs typeface="Arial MT"/>
              </a:rPr>
              <a:t>Analytics</a:t>
            </a:r>
            <a:endParaRPr sz="3950" dirty="0">
              <a:latin typeface="Arial MT"/>
              <a:cs typeface="Arial MT"/>
            </a:endParaRPr>
          </a:p>
          <a:p>
            <a:pPr marL="24130" algn="ctr">
              <a:lnSpc>
                <a:spcPct val="100000"/>
              </a:lnSpc>
              <a:spcBef>
                <a:spcPts val="2695"/>
              </a:spcBef>
            </a:pPr>
            <a:r>
              <a:rPr sz="3500" i="1" dirty="0">
                <a:solidFill>
                  <a:srgbClr val="008000"/>
                </a:solidFill>
                <a:latin typeface="Arial"/>
                <a:cs typeface="Arial"/>
              </a:rPr>
              <a:t>Riccardo</a:t>
            </a:r>
            <a:r>
              <a:rPr sz="3500" i="1" spc="-114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3500" i="1" spc="-10" dirty="0">
                <a:solidFill>
                  <a:srgbClr val="008000"/>
                </a:solidFill>
                <a:latin typeface="Arial"/>
                <a:cs typeface="Arial"/>
              </a:rPr>
              <a:t>Moccia</a:t>
            </a:r>
            <a:endParaRPr sz="35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5425" y="457200"/>
            <a:ext cx="3000375" cy="9810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533400"/>
            <a:ext cx="3352800" cy="752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203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1997" y="941796"/>
            <a:ext cx="7602220" cy="5577205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444500" indent="-431165">
              <a:lnSpc>
                <a:spcPct val="100000"/>
              </a:lnSpc>
              <a:spcBef>
                <a:spcPts val="1140"/>
              </a:spcBef>
              <a:buFont typeface="Wingdings"/>
              <a:buChar char=""/>
              <a:tabLst>
                <a:tab pos="444500" algn="l"/>
              </a:tabLst>
            </a:pPr>
            <a:r>
              <a:rPr sz="3200" dirty="0">
                <a:solidFill>
                  <a:srgbClr val="0000CC"/>
                </a:solidFill>
                <a:latin typeface="Arial MT"/>
                <a:cs typeface="Arial MT"/>
              </a:rPr>
              <a:t>Descrizione</a:t>
            </a:r>
            <a:r>
              <a:rPr sz="3200" spc="-114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Arial MT"/>
                <a:cs typeface="Arial MT"/>
              </a:rPr>
              <a:t>Problema</a:t>
            </a:r>
            <a:endParaRPr sz="3200" dirty="0">
              <a:latin typeface="Arial MT"/>
              <a:cs typeface="Arial MT"/>
            </a:endParaRPr>
          </a:p>
          <a:p>
            <a:pPr marL="444500" indent="-431165">
              <a:lnSpc>
                <a:spcPct val="100000"/>
              </a:lnSpc>
              <a:spcBef>
                <a:spcPts val="1040"/>
              </a:spcBef>
              <a:buFont typeface="Wingdings"/>
              <a:buChar char=""/>
              <a:tabLst>
                <a:tab pos="444500" algn="l"/>
              </a:tabLst>
            </a:pPr>
            <a:r>
              <a:rPr sz="3200" dirty="0">
                <a:solidFill>
                  <a:srgbClr val="0000CC"/>
                </a:solidFill>
                <a:latin typeface="Arial MT"/>
                <a:cs typeface="Arial MT"/>
              </a:rPr>
              <a:t>Complessità(perché</a:t>
            </a:r>
            <a:r>
              <a:rPr sz="3200" spc="-10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CC"/>
                </a:solidFill>
                <a:latin typeface="Arial MT"/>
                <a:cs typeface="Arial MT"/>
              </a:rPr>
              <a:t>servono</a:t>
            </a:r>
            <a:r>
              <a:rPr sz="3200" spc="-16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Arial MT"/>
                <a:cs typeface="Arial MT"/>
              </a:rPr>
              <a:t>euristiche)</a:t>
            </a:r>
            <a:endParaRPr sz="3200" dirty="0">
              <a:latin typeface="Arial MT"/>
              <a:cs typeface="Arial MT"/>
            </a:endParaRPr>
          </a:p>
          <a:p>
            <a:pPr marL="444500" indent="-431165">
              <a:lnSpc>
                <a:spcPct val="100000"/>
              </a:lnSpc>
              <a:spcBef>
                <a:spcPts val="1040"/>
              </a:spcBef>
              <a:buFont typeface="Wingdings"/>
              <a:buChar char=""/>
              <a:tabLst>
                <a:tab pos="444500" algn="l"/>
              </a:tabLst>
            </a:pPr>
            <a:r>
              <a:rPr sz="3200" dirty="0">
                <a:solidFill>
                  <a:srgbClr val="0000CC"/>
                </a:solidFill>
                <a:latin typeface="Arial MT"/>
                <a:cs typeface="Arial MT"/>
              </a:rPr>
              <a:t>Metodo</a:t>
            </a:r>
            <a:r>
              <a:rPr sz="3200" spc="-4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Arial MT"/>
                <a:cs typeface="Arial MT"/>
              </a:rPr>
              <a:t>esatto</a:t>
            </a:r>
            <a:endParaRPr sz="3200" dirty="0">
              <a:latin typeface="Arial MT"/>
              <a:cs typeface="Arial MT"/>
            </a:endParaRPr>
          </a:p>
          <a:p>
            <a:pPr marL="444500" indent="-431800">
              <a:lnSpc>
                <a:spcPct val="100000"/>
              </a:lnSpc>
              <a:spcBef>
                <a:spcPts val="970"/>
              </a:spcBef>
              <a:buFont typeface="Wingdings"/>
              <a:buChar char=""/>
              <a:tabLst>
                <a:tab pos="444500" algn="l"/>
              </a:tabLst>
            </a:pPr>
            <a:r>
              <a:rPr sz="3200" dirty="0">
                <a:solidFill>
                  <a:srgbClr val="0000CC"/>
                </a:solidFill>
                <a:latin typeface="Arial MT"/>
                <a:cs typeface="Arial MT"/>
              </a:rPr>
              <a:t>Simulated</a:t>
            </a:r>
            <a:r>
              <a:rPr sz="3200" spc="-14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CC"/>
                </a:solidFill>
                <a:latin typeface="Arial MT"/>
                <a:cs typeface="Arial MT"/>
              </a:rPr>
              <a:t>annealing</a:t>
            </a:r>
            <a:endParaRPr sz="3200" dirty="0">
              <a:latin typeface="Arial MT"/>
              <a:cs typeface="Arial MT"/>
            </a:endParaRPr>
          </a:p>
          <a:p>
            <a:pPr marL="444500" indent="-431800">
              <a:lnSpc>
                <a:spcPct val="100000"/>
              </a:lnSpc>
              <a:spcBef>
                <a:spcPts val="1040"/>
              </a:spcBef>
              <a:buFont typeface="Wingdings"/>
              <a:buChar char=""/>
              <a:tabLst>
                <a:tab pos="444500" algn="l"/>
              </a:tabLst>
            </a:pPr>
            <a:r>
              <a:rPr lang="it-IT" sz="3200" dirty="0">
                <a:solidFill>
                  <a:srgbClr val="0000CC"/>
                </a:solidFill>
                <a:latin typeface="Arial MT"/>
                <a:cs typeface="Arial MT"/>
              </a:rPr>
              <a:t>Euristiche </a:t>
            </a:r>
            <a:r>
              <a:rPr sz="3200" spc="-10" dirty="0">
                <a:solidFill>
                  <a:srgbClr val="0000CC"/>
                </a:solidFill>
                <a:latin typeface="Arial MT"/>
                <a:cs typeface="Arial MT"/>
              </a:rPr>
              <a:t>greedy</a:t>
            </a:r>
            <a:endParaRPr sz="3200" dirty="0">
              <a:latin typeface="Arial MT"/>
              <a:cs typeface="Arial MT"/>
            </a:endParaRPr>
          </a:p>
          <a:p>
            <a:pPr marL="444500" indent="-431800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444500" algn="l"/>
              </a:tabLst>
            </a:pPr>
            <a:r>
              <a:rPr sz="3200" spc="-10" dirty="0">
                <a:solidFill>
                  <a:srgbClr val="0000CC"/>
                </a:solidFill>
                <a:latin typeface="Arial MT"/>
                <a:cs typeface="Arial MT"/>
              </a:rPr>
              <a:t>Implementazione</a:t>
            </a:r>
            <a:endParaRPr sz="3200" dirty="0">
              <a:latin typeface="Arial MT"/>
              <a:cs typeface="Arial MT"/>
            </a:endParaRPr>
          </a:p>
          <a:p>
            <a:pPr marL="444500" indent="-431800">
              <a:lnSpc>
                <a:spcPct val="100000"/>
              </a:lnSpc>
              <a:spcBef>
                <a:spcPts val="1040"/>
              </a:spcBef>
              <a:buFont typeface="Wingdings"/>
              <a:buChar char=""/>
              <a:tabLst>
                <a:tab pos="444500" algn="l"/>
              </a:tabLst>
            </a:pPr>
            <a:r>
              <a:rPr sz="3200" spc="-20" dirty="0">
                <a:solidFill>
                  <a:srgbClr val="0000CC"/>
                </a:solidFill>
                <a:latin typeface="Arial MT"/>
                <a:cs typeface="Arial MT"/>
              </a:rPr>
              <a:t>Test</a:t>
            </a:r>
            <a:endParaRPr sz="3200" dirty="0">
              <a:latin typeface="Arial MT"/>
              <a:cs typeface="Arial MT"/>
            </a:endParaRPr>
          </a:p>
          <a:p>
            <a:pPr marL="444500" indent="-431800">
              <a:lnSpc>
                <a:spcPct val="100000"/>
              </a:lnSpc>
              <a:spcBef>
                <a:spcPts val="970"/>
              </a:spcBef>
              <a:buFont typeface="Wingdings"/>
              <a:buChar char=""/>
              <a:tabLst>
                <a:tab pos="444500" algn="l"/>
              </a:tabLst>
            </a:pPr>
            <a:r>
              <a:rPr sz="3200" spc="-10" dirty="0">
                <a:solidFill>
                  <a:srgbClr val="0000CC"/>
                </a:solidFill>
                <a:latin typeface="Arial MT"/>
                <a:cs typeface="Arial MT"/>
              </a:rPr>
              <a:t>Risultati</a:t>
            </a:r>
            <a:endParaRPr sz="3200" dirty="0">
              <a:latin typeface="Arial MT"/>
              <a:cs typeface="Arial MT"/>
            </a:endParaRPr>
          </a:p>
          <a:p>
            <a:pPr marL="444500" indent="-431800">
              <a:lnSpc>
                <a:spcPct val="100000"/>
              </a:lnSpc>
              <a:spcBef>
                <a:spcPts val="1040"/>
              </a:spcBef>
              <a:buFont typeface="Wingdings"/>
              <a:buChar char=""/>
              <a:tabLst>
                <a:tab pos="444500" algn="l"/>
              </a:tabLst>
            </a:pPr>
            <a:r>
              <a:rPr sz="3200" dirty="0">
                <a:solidFill>
                  <a:srgbClr val="0000CC"/>
                </a:solidFill>
                <a:latin typeface="Arial MT"/>
                <a:cs typeface="Arial MT"/>
              </a:rPr>
              <a:t>Conclusioni</a:t>
            </a:r>
            <a:r>
              <a:rPr sz="3200" spc="-6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CC"/>
                </a:solidFill>
                <a:latin typeface="Arial MT"/>
                <a:cs typeface="Arial MT"/>
              </a:rPr>
              <a:t>e</a:t>
            </a:r>
            <a:r>
              <a:rPr sz="3200" spc="-2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CC"/>
                </a:solidFill>
                <a:latin typeface="Arial MT"/>
                <a:cs typeface="Arial MT"/>
              </a:rPr>
              <a:t>idee</a:t>
            </a:r>
            <a:r>
              <a:rPr sz="3200" spc="-75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CC"/>
                </a:solidFill>
                <a:latin typeface="Arial MT"/>
                <a:cs typeface="Arial MT"/>
              </a:rPr>
              <a:t>per</a:t>
            </a:r>
            <a:r>
              <a:rPr sz="3200" spc="-5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lang="it-IT" sz="3200" dirty="0">
                <a:solidFill>
                  <a:srgbClr val="0000CC"/>
                </a:solidFill>
                <a:latin typeface="Arial MT"/>
                <a:cs typeface="Arial MT"/>
              </a:rPr>
              <a:t>sviluppi futuri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40" name="Segnaposto numero diapositiva 39">
            <a:extLst>
              <a:ext uri="{FF2B5EF4-FFF2-40B4-BE49-F238E27FC236}">
                <a16:creationId xmlns:a16="http://schemas.microsoft.com/office/drawing/2014/main" id="{861BDAD8-85FB-6636-B9E4-C7BAA64FC99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2</a:t>
            </a:fld>
            <a:endParaRPr lang="it-IT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88565">
              <a:lnSpc>
                <a:spcPct val="100000"/>
              </a:lnSpc>
              <a:spcBef>
                <a:spcPts val="130"/>
              </a:spcBef>
            </a:pPr>
            <a:r>
              <a:rPr dirty="0"/>
              <a:t>Descrizione</a:t>
            </a:r>
            <a:r>
              <a:rPr spc="90" dirty="0"/>
              <a:t> </a:t>
            </a:r>
            <a:r>
              <a:rPr spc="-10" dirty="0"/>
              <a:t>problema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9932" y="956484"/>
            <a:ext cx="10605135" cy="597789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456565" indent="-432434">
              <a:lnSpc>
                <a:spcPct val="100000"/>
              </a:lnSpc>
              <a:spcBef>
                <a:spcPts val="1095"/>
              </a:spcBef>
              <a:buFont typeface="Wingdings"/>
              <a:buChar char=""/>
              <a:tabLst>
                <a:tab pos="456565" algn="l"/>
              </a:tabLst>
            </a:pPr>
            <a:r>
              <a:rPr sz="3950" spc="-10" dirty="0">
                <a:solidFill>
                  <a:srgbClr val="0000CC"/>
                </a:solidFill>
                <a:latin typeface="Arial MT"/>
                <a:cs typeface="Arial MT"/>
              </a:rPr>
              <a:t>Input</a:t>
            </a:r>
            <a:endParaRPr sz="3950" dirty="0">
              <a:latin typeface="Arial MT"/>
              <a:cs typeface="Arial MT"/>
            </a:endParaRPr>
          </a:p>
          <a:p>
            <a:pPr marL="957580" lvl="1" indent="-358140">
              <a:lnSpc>
                <a:spcPct val="100000"/>
              </a:lnSpc>
              <a:spcBef>
                <a:spcPts val="894"/>
              </a:spcBef>
              <a:buFont typeface="Wingdings"/>
              <a:buChar char=""/>
              <a:tabLst>
                <a:tab pos="957580" algn="l"/>
              </a:tabLst>
            </a:pPr>
            <a:r>
              <a:rPr sz="3500" dirty="0">
                <a:solidFill>
                  <a:srgbClr val="006600"/>
                </a:solidFill>
                <a:latin typeface="Arial MT"/>
                <a:cs typeface="Arial MT"/>
              </a:rPr>
              <a:t>Un</a:t>
            </a:r>
            <a:r>
              <a:rPr sz="3500" spc="-45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006600"/>
                </a:solidFill>
                <a:latin typeface="Arial MT"/>
                <a:cs typeface="Arial MT"/>
              </a:rPr>
              <a:t>DAG</a:t>
            </a:r>
            <a:r>
              <a:rPr sz="3500" spc="-35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500" spc="-10" dirty="0">
                <a:solidFill>
                  <a:srgbClr val="006600"/>
                </a:solidFill>
                <a:latin typeface="Cambria Math"/>
                <a:cs typeface="Cambria Math"/>
              </a:rPr>
              <a:t>𝐺</a:t>
            </a:r>
            <a:r>
              <a:rPr sz="3500" spc="-10" dirty="0">
                <a:solidFill>
                  <a:srgbClr val="006600"/>
                </a:solidFill>
                <a:latin typeface="Arial MT"/>
                <a:cs typeface="Arial MT"/>
              </a:rPr>
              <a:t>=(</a:t>
            </a:r>
            <a:r>
              <a:rPr sz="3500" spc="-10" dirty="0">
                <a:solidFill>
                  <a:srgbClr val="006600"/>
                </a:solidFill>
                <a:latin typeface="Cambria Math"/>
                <a:cs typeface="Cambria Math"/>
              </a:rPr>
              <a:t>𝑉</a:t>
            </a:r>
            <a:r>
              <a:rPr sz="3500" spc="-10" dirty="0">
                <a:solidFill>
                  <a:srgbClr val="006600"/>
                </a:solidFill>
                <a:latin typeface="Arial MT"/>
                <a:cs typeface="Arial MT"/>
              </a:rPr>
              <a:t>,</a:t>
            </a:r>
            <a:r>
              <a:rPr sz="3500" spc="-10" dirty="0">
                <a:solidFill>
                  <a:srgbClr val="006600"/>
                </a:solidFill>
                <a:latin typeface="Cambria Math"/>
                <a:cs typeface="Cambria Math"/>
              </a:rPr>
              <a:t>𝐸</a:t>
            </a:r>
            <a:r>
              <a:rPr sz="3500" spc="-10" dirty="0">
                <a:solidFill>
                  <a:srgbClr val="006600"/>
                </a:solidFill>
                <a:latin typeface="Arial MT"/>
                <a:cs typeface="Arial MT"/>
              </a:rPr>
              <a:t>)</a:t>
            </a:r>
            <a:endParaRPr sz="3500" dirty="0">
              <a:latin typeface="Arial MT"/>
              <a:cs typeface="Arial MT"/>
            </a:endParaRPr>
          </a:p>
          <a:p>
            <a:pPr marL="958215" lvl="1" indent="-358775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958215" algn="l"/>
              </a:tabLst>
            </a:pPr>
            <a:r>
              <a:rPr sz="3500" dirty="0">
                <a:solidFill>
                  <a:srgbClr val="4F6128"/>
                </a:solidFill>
                <a:latin typeface="Arial MT"/>
                <a:cs typeface="Arial MT"/>
              </a:rPr>
              <a:t>Per</a:t>
            </a:r>
            <a:r>
              <a:rPr sz="3500" spc="-80" dirty="0">
                <a:solidFill>
                  <a:srgbClr val="4F6128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4F6128"/>
                </a:solidFill>
                <a:latin typeface="Arial MT"/>
                <a:cs typeface="Arial MT"/>
              </a:rPr>
              <a:t>ogni</a:t>
            </a:r>
            <a:r>
              <a:rPr sz="3500" spc="-75" dirty="0">
                <a:solidFill>
                  <a:srgbClr val="4F6128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4F6128"/>
                </a:solidFill>
                <a:latin typeface="Arial MT"/>
                <a:cs typeface="Arial MT"/>
              </a:rPr>
              <a:t>nodo/test</a:t>
            </a:r>
            <a:r>
              <a:rPr sz="3500" spc="-50" dirty="0">
                <a:solidFill>
                  <a:srgbClr val="4F6128"/>
                </a:solidFill>
                <a:latin typeface="Arial MT"/>
                <a:cs typeface="Arial MT"/>
              </a:rPr>
              <a:t> </a:t>
            </a:r>
            <a:r>
              <a:rPr sz="3500" spc="-20" dirty="0">
                <a:solidFill>
                  <a:srgbClr val="4F6128"/>
                </a:solidFill>
                <a:latin typeface="Cambria Math"/>
                <a:cs typeface="Cambria Math"/>
              </a:rPr>
              <a:t>𝑖∈𝑉</a:t>
            </a:r>
            <a:r>
              <a:rPr sz="3500" spc="-20" dirty="0">
                <a:solidFill>
                  <a:srgbClr val="4F6128"/>
                </a:solidFill>
                <a:latin typeface="Arial MT"/>
                <a:cs typeface="Arial MT"/>
              </a:rPr>
              <a:t>:</a:t>
            </a:r>
            <a:endParaRPr sz="3500" dirty="0">
              <a:latin typeface="Arial MT"/>
              <a:cs typeface="Arial MT"/>
            </a:endParaRPr>
          </a:p>
          <a:p>
            <a:pPr marL="1450340" lvl="2" indent="-288290">
              <a:lnSpc>
                <a:spcPct val="100000"/>
              </a:lnSpc>
              <a:spcBef>
                <a:spcPts val="755"/>
              </a:spcBef>
              <a:buChar char="•"/>
              <a:tabLst>
                <a:tab pos="1450340" algn="l"/>
              </a:tabLst>
            </a:pPr>
            <a:r>
              <a:rPr sz="2600" dirty="0">
                <a:solidFill>
                  <a:srgbClr val="990033"/>
                </a:solidFill>
                <a:latin typeface="Arial MT"/>
                <a:cs typeface="Arial MT"/>
              </a:rPr>
              <a:t>costo</a:t>
            </a:r>
            <a:r>
              <a:rPr sz="2600" spc="-40" dirty="0">
                <a:solidFill>
                  <a:srgbClr val="990033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990033"/>
                </a:solidFill>
                <a:latin typeface="Cambria Math"/>
                <a:cs typeface="Cambria Math"/>
              </a:rPr>
              <a:t>𝑐</a:t>
            </a:r>
            <a:r>
              <a:rPr sz="2600" spc="-10" dirty="0">
                <a:solidFill>
                  <a:srgbClr val="990033"/>
                </a:solidFill>
                <a:latin typeface="Arial MT"/>
                <a:cs typeface="Arial MT"/>
              </a:rPr>
              <a:t>(</a:t>
            </a:r>
            <a:r>
              <a:rPr sz="2600" spc="-10" dirty="0">
                <a:solidFill>
                  <a:srgbClr val="990033"/>
                </a:solidFill>
                <a:latin typeface="Cambria Math"/>
                <a:cs typeface="Cambria Math"/>
              </a:rPr>
              <a:t>𝑖</a:t>
            </a:r>
            <a:r>
              <a:rPr sz="2600" spc="-10" dirty="0">
                <a:solidFill>
                  <a:srgbClr val="990033"/>
                </a:solidFill>
                <a:latin typeface="Arial MT"/>
                <a:cs typeface="Arial MT"/>
              </a:rPr>
              <a:t>)&gt;0</a:t>
            </a:r>
            <a:endParaRPr sz="2600" dirty="0">
              <a:latin typeface="Arial MT"/>
              <a:cs typeface="Arial MT"/>
            </a:endParaRPr>
          </a:p>
          <a:p>
            <a:pPr marL="1450340" lvl="2" indent="-288290">
              <a:lnSpc>
                <a:spcPct val="100000"/>
              </a:lnSpc>
              <a:spcBef>
                <a:spcPts val="710"/>
              </a:spcBef>
              <a:buChar char="•"/>
              <a:tabLst>
                <a:tab pos="1450340" algn="l"/>
              </a:tabLst>
            </a:pPr>
            <a:r>
              <a:rPr sz="2600" dirty="0">
                <a:solidFill>
                  <a:srgbClr val="990033"/>
                </a:solidFill>
                <a:latin typeface="Arial MT"/>
                <a:cs typeface="Arial MT"/>
              </a:rPr>
              <a:t>probabilità</a:t>
            </a:r>
            <a:r>
              <a:rPr sz="2600" spc="-70" dirty="0">
                <a:solidFill>
                  <a:srgbClr val="990033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990033"/>
                </a:solidFill>
                <a:latin typeface="Arial MT"/>
                <a:cs typeface="Arial MT"/>
              </a:rPr>
              <a:t>di</a:t>
            </a:r>
            <a:r>
              <a:rPr sz="2600" spc="-30" dirty="0">
                <a:solidFill>
                  <a:srgbClr val="990033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990033"/>
                </a:solidFill>
                <a:latin typeface="Arial MT"/>
                <a:cs typeface="Arial MT"/>
              </a:rPr>
              <a:t>successo</a:t>
            </a:r>
            <a:r>
              <a:rPr sz="2600" spc="-70" dirty="0">
                <a:solidFill>
                  <a:srgbClr val="990033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990033"/>
                </a:solidFill>
                <a:latin typeface="Cambria Math"/>
                <a:cs typeface="Cambria Math"/>
              </a:rPr>
              <a:t>𝑝</a:t>
            </a:r>
            <a:r>
              <a:rPr sz="2600" spc="-10" dirty="0">
                <a:solidFill>
                  <a:srgbClr val="990033"/>
                </a:solidFill>
                <a:latin typeface="Arial MT"/>
                <a:cs typeface="Arial MT"/>
              </a:rPr>
              <a:t>(</a:t>
            </a:r>
            <a:r>
              <a:rPr sz="2600" spc="-10" dirty="0">
                <a:solidFill>
                  <a:srgbClr val="990033"/>
                </a:solidFill>
                <a:latin typeface="Cambria Math"/>
                <a:cs typeface="Cambria Math"/>
              </a:rPr>
              <a:t>𝑖</a:t>
            </a:r>
            <a:r>
              <a:rPr sz="2600" spc="-10" dirty="0">
                <a:solidFill>
                  <a:srgbClr val="990033"/>
                </a:solidFill>
                <a:latin typeface="Arial MT"/>
                <a:cs typeface="Arial MT"/>
              </a:rPr>
              <a:t>)</a:t>
            </a:r>
            <a:r>
              <a:rPr sz="2600" spc="-10" dirty="0">
                <a:solidFill>
                  <a:srgbClr val="990033"/>
                </a:solidFill>
                <a:latin typeface="Cambria Math"/>
                <a:cs typeface="Cambria Math"/>
              </a:rPr>
              <a:t>∈</a:t>
            </a:r>
            <a:r>
              <a:rPr sz="2600" spc="-10" dirty="0">
                <a:solidFill>
                  <a:srgbClr val="990033"/>
                </a:solidFill>
                <a:latin typeface="Arial MT"/>
                <a:cs typeface="Arial MT"/>
              </a:rPr>
              <a:t>(0,1)</a:t>
            </a:r>
            <a:endParaRPr sz="2600" dirty="0">
              <a:latin typeface="Arial MT"/>
              <a:cs typeface="Arial MT"/>
            </a:endParaRPr>
          </a:p>
          <a:p>
            <a:pPr marL="443865" indent="-431165">
              <a:lnSpc>
                <a:spcPct val="100000"/>
              </a:lnSpc>
              <a:spcBef>
                <a:spcPts val="910"/>
              </a:spcBef>
              <a:buFont typeface="Wingdings"/>
              <a:buChar char=""/>
              <a:tabLst>
                <a:tab pos="443865" algn="l"/>
              </a:tabLst>
            </a:pPr>
            <a:r>
              <a:rPr sz="3600" spc="-10" dirty="0">
                <a:solidFill>
                  <a:srgbClr val="0000CC"/>
                </a:solidFill>
                <a:latin typeface="Arial MT"/>
                <a:cs typeface="Arial MT"/>
              </a:rPr>
              <a:t>Vincoli</a:t>
            </a:r>
            <a:endParaRPr sz="3600" dirty="0">
              <a:latin typeface="Arial MT"/>
              <a:cs typeface="Arial MT"/>
            </a:endParaRPr>
          </a:p>
          <a:p>
            <a:pPr marL="947419" lvl="1" indent="-360045">
              <a:lnSpc>
                <a:spcPct val="100000"/>
              </a:lnSpc>
              <a:spcBef>
                <a:spcPts val="810"/>
              </a:spcBef>
              <a:buFont typeface="Wingdings"/>
              <a:buChar char=""/>
              <a:tabLst>
                <a:tab pos="947419" algn="l"/>
              </a:tabLst>
            </a:pP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Se</a:t>
            </a:r>
            <a:r>
              <a:rPr sz="3050" spc="20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c’è</a:t>
            </a:r>
            <a:r>
              <a:rPr sz="3050" spc="10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un</a:t>
            </a:r>
            <a:r>
              <a:rPr sz="3050" spc="95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arco</a:t>
            </a:r>
            <a:r>
              <a:rPr sz="3050" spc="120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006600"/>
                </a:solidFill>
                <a:latin typeface="Cambria Math"/>
                <a:cs typeface="Cambria Math"/>
              </a:rPr>
              <a:t>𝑢</a:t>
            </a: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→</a:t>
            </a:r>
            <a:r>
              <a:rPr sz="3050" dirty="0">
                <a:solidFill>
                  <a:srgbClr val="006600"/>
                </a:solidFill>
                <a:latin typeface="Cambria Math"/>
                <a:cs typeface="Cambria Math"/>
              </a:rPr>
              <a:t>𝑣</a:t>
            </a: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,</a:t>
            </a:r>
            <a:r>
              <a:rPr sz="3050" spc="50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allora</a:t>
            </a:r>
            <a:r>
              <a:rPr sz="3050" spc="95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006600"/>
                </a:solidFill>
                <a:latin typeface="Cambria Math"/>
                <a:cs typeface="Cambria Math"/>
              </a:rPr>
              <a:t>𝑢</a:t>
            </a:r>
            <a:r>
              <a:rPr sz="3050" spc="235" dirty="0">
                <a:solidFill>
                  <a:srgbClr val="006600"/>
                </a:solidFill>
                <a:latin typeface="Cambria Math"/>
                <a:cs typeface="Cambria Math"/>
              </a:rPr>
              <a:t> </a:t>
            </a: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deve</a:t>
            </a:r>
            <a:r>
              <a:rPr sz="3050" spc="15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comparire</a:t>
            </a:r>
            <a:r>
              <a:rPr sz="3050" spc="100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prima</a:t>
            </a:r>
            <a:r>
              <a:rPr sz="3050" spc="95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di</a:t>
            </a:r>
            <a:r>
              <a:rPr sz="3050" spc="65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050" spc="-50" dirty="0">
                <a:solidFill>
                  <a:srgbClr val="006600"/>
                </a:solidFill>
                <a:latin typeface="Cambria Math"/>
                <a:cs typeface="Cambria Math"/>
              </a:rPr>
              <a:t>𝑣</a:t>
            </a:r>
            <a:endParaRPr sz="3050" dirty="0">
              <a:latin typeface="Cambria Math"/>
              <a:cs typeface="Cambria Math"/>
            </a:endParaRPr>
          </a:p>
          <a:p>
            <a:pPr marL="947419">
              <a:lnSpc>
                <a:spcPct val="100000"/>
              </a:lnSpc>
              <a:spcBef>
                <a:spcPts val="95"/>
              </a:spcBef>
            </a:pP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(ordine</a:t>
            </a:r>
            <a:r>
              <a:rPr sz="3050" spc="45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050" spc="-10" dirty="0">
                <a:solidFill>
                  <a:srgbClr val="006600"/>
                </a:solidFill>
                <a:latin typeface="Arial MT"/>
                <a:cs typeface="Arial MT"/>
              </a:rPr>
              <a:t>topologico)</a:t>
            </a:r>
            <a:endParaRPr sz="3050" dirty="0">
              <a:latin typeface="Arial MT"/>
              <a:cs typeface="Arial MT"/>
            </a:endParaRPr>
          </a:p>
          <a:p>
            <a:pPr marL="443865" indent="-431165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443865" algn="l"/>
              </a:tabLst>
            </a:pPr>
            <a:r>
              <a:rPr sz="3600" spc="-10" dirty="0">
                <a:solidFill>
                  <a:srgbClr val="0000CC"/>
                </a:solidFill>
                <a:latin typeface="Arial MT"/>
                <a:cs typeface="Arial MT"/>
              </a:rPr>
              <a:t>Output</a:t>
            </a:r>
            <a:endParaRPr sz="3600" dirty="0">
              <a:latin typeface="Arial MT"/>
              <a:cs typeface="Arial MT"/>
            </a:endParaRPr>
          </a:p>
          <a:p>
            <a:pPr marL="947419" lvl="1" indent="-360045">
              <a:lnSpc>
                <a:spcPct val="100000"/>
              </a:lnSpc>
              <a:spcBef>
                <a:spcPts val="885"/>
              </a:spcBef>
              <a:buFont typeface="Wingdings"/>
              <a:buChar char=""/>
              <a:tabLst>
                <a:tab pos="947419" algn="l"/>
              </a:tabLst>
            </a:pP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Un</a:t>
            </a:r>
            <a:r>
              <a:rPr sz="3050" spc="20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ordine</a:t>
            </a:r>
            <a:r>
              <a:rPr sz="3050" spc="105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topologico</a:t>
            </a:r>
            <a:r>
              <a:rPr sz="3050" spc="160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006600"/>
                </a:solidFill>
                <a:latin typeface="Cambria Math"/>
                <a:cs typeface="Cambria Math"/>
              </a:rPr>
              <a:t>𝜋</a:t>
            </a:r>
            <a:r>
              <a:rPr sz="3050" spc="250" dirty="0">
                <a:solidFill>
                  <a:srgbClr val="006600"/>
                </a:solidFill>
                <a:latin typeface="Cambria Math"/>
                <a:cs typeface="Cambria Math"/>
              </a:rPr>
              <a:t> </a:t>
            </a: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che</a:t>
            </a:r>
            <a:r>
              <a:rPr sz="3050" spc="30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minimizza</a:t>
            </a:r>
            <a:r>
              <a:rPr sz="3050" spc="100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il</a:t>
            </a:r>
            <a:r>
              <a:rPr sz="3050" spc="-5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006600"/>
                </a:solidFill>
                <a:latin typeface="Arial MT"/>
                <a:cs typeface="Arial MT"/>
              </a:rPr>
              <a:t>costo</a:t>
            </a:r>
            <a:r>
              <a:rPr sz="3050" spc="105" dirty="0">
                <a:solidFill>
                  <a:srgbClr val="006600"/>
                </a:solidFill>
                <a:latin typeface="Arial MT"/>
                <a:cs typeface="Arial MT"/>
              </a:rPr>
              <a:t> </a:t>
            </a:r>
            <a:r>
              <a:rPr sz="3050" spc="-10" dirty="0">
                <a:solidFill>
                  <a:srgbClr val="006600"/>
                </a:solidFill>
                <a:latin typeface="Arial MT"/>
                <a:cs typeface="Arial MT"/>
              </a:rPr>
              <a:t>atteso</a:t>
            </a:r>
            <a:endParaRPr sz="3050" dirty="0">
              <a:latin typeface="Arial MT"/>
              <a:cs typeface="Arial MT"/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946CA9F-F8C0-2C4B-75B2-AD6502A3FF5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3</a:t>
            </a:fld>
            <a:endParaRPr lang="it-IT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BA37D-858F-9FB6-97C2-51CF01362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16DEDCE-A08E-085F-CF22-1F5C1977F5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4875" y="146113"/>
            <a:ext cx="10991850" cy="76302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it-IT" spc="-10" dirty="0"/>
              <a:t>Applicazioni sequential testing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FF6EAC5-BFDC-471E-E70F-BA7B4D0883F9}"/>
              </a:ext>
            </a:extLst>
          </p:cNvPr>
          <p:cNvSpPr txBox="1"/>
          <p:nvPr/>
        </p:nvSpPr>
        <p:spPr>
          <a:xfrm>
            <a:off x="729932" y="1167495"/>
            <a:ext cx="10605135" cy="498021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456565" indent="-432434">
              <a:lnSpc>
                <a:spcPct val="100000"/>
              </a:lnSpc>
              <a:spcBef>
                <a:spcPts val="1095"/>
              </a:spcBef>
              <a:buFont typeface="Wingdings"/>
              <a:buChar char=""/>
              <a:tabLst>
                <a:tab pos="456565" algn="l"/>
              </a:tabLst>
            </a:pPr>
            <a:r>
              <a:rPr lang="it-IT" sz="3950" spc="-10" dirty="0">
                <a:solidFill>
                  <a:srgbClr val="0000CC"/>
                </a:solidFill>
                <a:latin typeface="Arial MT"/>
                <a:cs typeface="Arial MT"/>
              </a:rPr>
              <a:t>Assunzione operativa</a:t>
            </a:r>
            <a:endParaRPr sz="3950" dirty="0">
              <a:latin typeface="Arial MT"/>
              <a:cs typeface="Arial MT"/>
            </a:endParaRPr>
          </a:p>
          <a:p>
            <a:pPr marL="957580" lvl="1" indent="-358140">
              <a:lnSpc>
                <a:spcPct val="100000"/>
              </a:lnSpc>
              <a:spcBef>
                <a:spcPts val="894"/>
              </a:spcBef>
              <a:buFont typeface="Wingdings"/>
              <a:buChar char=""/>
              <a:tabLst>
                <a:tab pos="957580" algn="l"/>
              </a:tabLst>
            </a:pPr>
            <a:r>
              <a:rPr lang="it-IT" sz="3500" dirty="0">
                <a:solidFill>
                  <a:srgbClr val="006600"/>
                </a:solidFill>
                <a:latin typeface="Arial MT"/>
                <a:cs typeface="Arial MT"/>
              </a:rPr>
              <a:t>I test vengono eseguiti in sequenza</a:t>
            </a:r>
            <a:endParaRPr sz="3500" dirty="0">
              <a:latin typeface="Arial MT"/>
              <a:cs typeface="Arial MT"/>
            </a:endParaRPr>
          </a:p>
          <a:p>
            <a:pPr marL="958215" lvl="1" indent="-358775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958215" algn="l"/>
              </a:tabLst>
            </a:pPr>
            <a:r>
              <a:rPr lang="it-IT" sz="3500" dirty="0">
                <a:solidFill>
                  <a:srgbClr val="4F6128"/>
                </a:solidFill>
                <a:latin typeface="Arial MT"/>
                <a:cs typeface="Arial MT"/>
              </a:rPr>
              <a:t>Ci si ferma al primo fallimento (se un test fallisce, non ha senso proseguire)</a:t>
            </a:r>
            <a:endParaRPr sz="3500" dirty="0">
              <a:latin typeface="Arial MT"/>
              <a:cs typeface="Arial MT"/>
            </a:endParaRPr>
          </a:p>
          <a:p>
            <a:pPr marL="443865" indent="-431165">
              <a:lnSpc>
                <a:spcPct val="100000"/>
              </a:lnSpc>
              <a:spcBef>
                <a:spcPts val="910"/>
              </a:spcBef>
              <a:buFont typeface="Wingdings"/>
              <a:buChar char=""/>
              <a:tabLst>
                <a:tab pos="443865" algn="l"/>
              </a:tabLst>
            </a:pPr>
            <a:r>
              <a:rPr lang="it-IT" sz="3600" spc="-10" dirty="0">
                <a:solidFill>
                  <a:srgbClr val="0000CC"/>
                </a:solidFill>
                <a:latin typeface="Arial MT"/>
                <a:cs typeface="Arial MT"/>
              </a:rPr>
              <a:t>Alcuni ambiti applicativi:</a:t>
            </a:r>
            <a:endParaRPr sz="3600" dirty="0">
              <a:latin typeface="Arial MT"/>
              <a:cs typeface="Arial MT"/>
            </a:endParaRPr>
          </a:p>
          <a:p>
            <a:pPr marL="947419" lvl="1" indent="-360045">
              <a:lnSpc>
                <a:spcPct val="100000"/>
              </a:lnSpc>
              <a:spcBef>
                <a:spcPts val="810"/>
              </a:spcBef>
              <a:buFont typeface="Wingdings"/>
              <a:buChar char=""/>
              <a:tabLst>
                <a:tab pos="947419" algn="l"/>
              </a:tabLst>
            </a:pPr>
            <a:r>
              <a:rPr lang="it-IT" sz="3050" dirty="0">
                <a:solidFill>
                  <a:srgbClr val="006600"/>
                </a:solidFill>
                <a:latin typeface="Arial MT"/>
                <a:cs typeface="Arial MT"/>
              </a:rPr>
              <a:t>Diagnosi: appena trovi un problema puoi interrompere</a:t>
            </a:r>
          </a:p>
          <a:p>
            <a:pPr marL="947419" lvl="1" indent="-360045">
              <a:lnSpc>
                <a:spcPct val="100000"/>
              </a:lnSpc>
              <a:spcBef>
                <a:spcPts val="810"/>
              </a:spcBef>
              <a:buFont typeface="Wingdings"/>
              <a:buChar char=""/>
              <a:tabLst>
                <a:tab pos="947419" algn="l"/>
              </a:tabLst>
            </a:pPr>
            <a:r>
              <a:rPr lang="it-IT" sz="3050" dirty="0">
                <a:solidFill>
                  <a:srgbClr val="006600"/>
                </a:solidFill>
                <a:latin typeface="Arial MT"/>
                <a:cs typeface="Arial MT"/>
              </a:rPr>
              <a:t>Controllo qualità: stop alla prima non conformità</a:t>
            </a:r>
          </a:p>
          <a:p>
            <a:pPr marL="947419" lvl="1" indent="-360045">
              <a:lnSpc>
                <a:spcPct val="100000"/>
              </a:lnSpc>
              <a:spcBef>
                <a:spcPts val="810"/>
              </a:spcBef>
              <a:buFont typeface="Wingdings"/>
              <a:buChar char=""/>
              <a:tabLst>
                <a:tab pos="989013" algn="l"/>
              </a:tabLst>
            </a:pPr>
            <a:r>
              <a:rPr lang="it-IT" sz="3050" dirty="0">
                <a:solidFill>
                  <a:srgbClr val="006600"/>
                </a:solidFill>
                <a:latin typeface="Arial MT"/>
                <a:cs typeface="Arial MT"/>
              </a:rPr>
              <a:t>Pipeline/validazioni: fallimento blocca step successivi</a:t>
            </a:r>
            <a:endParaRPr sz="3050" dirty="0">
              <a:latin typeface="Arial MT"/>
              <a:cs typeface="Arial MT"/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F23E4D-C42B-A1D3-102B-7415786BE7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95361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21410">
              <a:lnSpc>
                <a:spcPct val="100000"/>
              </a:lnSpc>
              <a:spcBef>
                <a:spcPts val="130"/>
              </a:spcBef>
            </a:pPr>
            <a:r>
              <a:rPr dirty="0"/>
              <a:t>Funzione</a:t>
            </a:r>
            <a:r>
              <a:rPr spc="60" dirty="0"/>
              <a:t> </a:t>
            </a:r>
            <a:r>
              <a:rPr dirty="0"/>
              <a:t>obiettivo:</a:t>
            </a:r>
            <a:r>
              <a:rPr spc="60" dirty="0"/>
              <a:t> </a:t>
            </a:r>
            <a:r>
              <a:rPr dirty="0"/>
              <a:t>costo</a:t>
            </a:r>
            <a:r>
              <a:rPr spc="65" dirty="0"/>
              <a:t> </a:t>
            </a:r>
            <a:r>
              <a:rPr spc="-10" dirty="0"/>
              <a:t>atteso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741997" y="1371600"/>
                <a:ext cx="11154728" cy="5415842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L="444500" indent="-431800">
                  <a:lnSpc>
                    <a:spcPts val="4355"/>
                  </a:lnSpc>
                  <a:spcBef>
                    <a:spcPts val="130"/>
                  </a:spcBef>
                  <a:buFont typeface="Wingdings"/>
                  <a:buChar char=""/>
                  <a:tabLst>
                    <a:tab pos="444500" algn="l"/>
                  </a:tabLst>
                </a:pPr>
                <a:r>
                  <a:rPr lang="it-IT" sz="3950" spc="-1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L’obiettivo è quello di minimizzare il costo atteso</a:t>
                </a:r>
                <a:endParaRPr lang="it-IT" sz="3950" dirty="0">
                  <a:solidFill>
                    <a:srgbClr val="0000CC"/>
                  </a:solidFill>
                  <a:latin typeface="Arial MT"/>
                  <a:cs typeface="Arial MT"/>
                </a:endParaRPr>
              </a:p>
              <a:p>
                <a:pPr marL="444500" indent="-431800">
                  <a:lnSpc>
                    <a:spcPts val="4355"/>
                  </a:lnSpc>
                  <a:spcBef>
                    <a:spcPts val="130"/>
                  </a:spcBef>
                  <a:buFont typeface="Wingdings"/>
                  <a:buChar char=""/>
                  <a:tabLst>
                    <a:tab pos="444500" algn="l"/>
                  </a:tabLst>
                </a:pPr>
                <a:r>
                  <a:rPr lang="it-IT" sz="395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Costo</a:t>
                </a:r>
                <a:r>
                  <a:rPr lang="it-IT" sz="3950" spc="-45" dirty="0">
                    <a:solidFill>
                      <a:srgbClr val="0000CC"/>
                    </a:solidFill>
                    <a:latin typeface="Arial MT"/>
                    <a:cs typeface="Arial MT"/>
                  </a:rPr>
                  <a:t> </a:t>
                </a:r>
                <a:r>
                  <a:rPr lang="it-IT" sz="395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atteso</a:t>
                </a:r>
                <a:r>
                  <a:rPr lang="it-IT" sz="3950" spc="35" dirty="0">
                    <a:solidFill>
                      <a:srgbClr val="0000CC"/>
                    </a:solidFill>
                    <a:latin typeface="Arial MT"/>
                    <a:cs typeface="Arial MT"/>
                  </a:rPr>
                  <a:t> </a:t>
                </a:r>
                <a:r>
                  <a:rPr lang="it-IT" sz="395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dell’ordine</a:t>
                </a:r>
                <a:r>
                  <a:rPr lang="it-IT" sz="3950" spc="6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 </a:t>
                </a:r>
                <a:r>
                  <a:rPr lang="it-IT" sz="3950" dirty="0">
                    <a:solidFill>
                      <a:srgbClr val="0000CC"/>
                    </a:solidFill>
                    <a:latin typeface="Cambria Math"/>
                    <a:cs typeface="Cambria Math"/>
                  </a:rPr>
                  <a:t>𝜋 </a:t>
                </a:r>
                <a:r>
                  <a:rPr lang="it-IT" sz="395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3950" i="1" dirty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3950" i="1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it-IT" sz="3950" i="0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3950" i="0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3950" b="0" i="0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it-IT" sz="3950" i="0" dirty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it-IT" sz="3950" i="1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3950" i="1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it-IT" sz="3950" i="1" dirty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it-IT" sz="395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)</a:t>
                </a:r>
                <a:r>
                  <a:rPr lang="it-IT" sz="3950" spc="-5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 </a:t>
                </a:r>
              </a:p>
              <a:p>
                <a:pPr marL="12700" algn="ctr">
                  <a:lnSpc>
                    <a:spcPts val="4355"/>
                  </a:lnSpc>
                  <a:spcBef>
                    <a:spcPts val="130"/>
                  </a:spcBef>
                  <a:tabLst>
                    <a:tab pos="444500" algn="l"/>
                  </a:tabLst>
                </a:pPr>
                <a:endParaRPr lang="it-IT" sz="3950" i="1" dirty="0">
                  <a:latin typeface="Cambria Math" panose="02040503050406030204" pitchFamily="18" charset="0"/>
                </a:endParaRPr>
              </a:p>
              <a:p>
                <a:pPr marL="12700" algn="ctr">
                  <a:lnSpc>
                    <a:spcPts val="4355"/>
                  </a:lnSpc>
                  <a:spcBef>
                    <a:spcPts val="130"/>
                  </a:spcBef>
                  <a:tabLst>
                    <a:tab pos="444500" algn="l"/>
                  </a:tabLs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ar-AE" sz="32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3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3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ar-AE" sz="3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3200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</m:d>
                      <m:r>
                        <a:rPr lang="it-IT" sz="3200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it-IT" sz="32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32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sz="3200" i="0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it-IT" sz="320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it-IT" sz="32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it-IT" sz="320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it-IT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3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3200" i="1" dirty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it-IT" sz="320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nary>
                        <m:naryPr>
                          <m:chr m:val="∏"/>
                          <m:limLoc m:val="undOvr"/>
                          <m:grow m:val="on"/>
                          <m:supHide m:val="on"/>
                          <m:ctrlPr>
                            <a:rPr lang="it-IT" sz="32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320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it-IT" sz="3200" i="0" dirty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it-IT" sz="32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it-IT" sz="320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it-IT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3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3200" i="1" dirty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it-IT" sz="3200" i="1" dirty="0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it-IT" sz="3200" dirty="0">
                  <a:latin typeface="Arial MT"/>
                  <a:cs typeface="Arial MT"/>
                </a:endParaRPr>
              </a:p>
              <a:p>
                <a:pPr marL="12700" algn="ctr">
                  <a:lnSpc>
                    <a:spcPts val="4355"/>
                  </a:lnSpc>
                  <a:spcBef>
                    <a:spcPts val="130"/>
                  </a:spcBef>
                  <a:tabLst>
                    <a:tab pos="444500" algn="l"/>
                  </a:tabLst>
                </a:pPr>
                <a:endParaRPr lang="it-IT" sz="3200" dirty="0">
                  <a:latin typeface="Arial MT"/>
                  <a:cs typeface="Arial MT"/>
                </a:endParaRPr>
              </a:p>
              <a:p>
                <a:pPr marL="456565" indent="-432434">
                  <a:lnSpc>
                    <a:spcPct val="100000"/>
                  </a:lnSpc>
                  <a:spcBef>
                    <a:spcPts val="1095"/>
                  </a:spcBef>
                  <a:buFont typeface="Wingdings"/>
                  <a:buChar char=""/>
                  <a:tabLst>
                    <a:tab pos="456565" algn="l"/>
                  </a:tabLst>
                </a:pPr>
                <a:r>
                  <a:rPr lang="it-IT" sz="3950" spc="-1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Per ogni nodo/test 𝑖∈𝑉:</a:t>
                </a:r>
                <a:endParaRPr lang="it-IT" sz="3950" dirty="0">
                  <a:latin typeface="Arial MT"/>
                  <a:cs typeface="Arial MT"/>
                </a:endParaRPr>
              </a:p>
              <a:p>
                <a:pPr marL="957580" lvl="1" indent="-358140">
                  <a:lnSpc>
                    <a:spcPct val="100000"/>
                  </a:lnSpc>
                  <a:spcBef>
                    <a:spcPts val="894"/>
                  </a:spcBef>
                  <a:buFont typeface="Wingdings"/>
                  <a:buChar char=""/>
                  <a:tabLst>
                    <a:tab pos="957580" algn="l"/>
                  </a:tabLst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grow m:val="on"/>
                        <m:supHide m:val="on"/>
                        <m:ctrlPr>
                          <a:rPr lang="it-IT" sz="3600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3600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it-IT" sz="3600" i="0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it-IT" sz="3600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it-IT" sz="3600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it-IT" sz="3600" i="1" dirty="0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3600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3600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it-IT" sz="3600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it-IT" sz="3500" dirty="0">
                    <a:solidFill>
                      <a:schemeClr val="accent3">
                        <a:lumMod val="50000"/>
                      </a:schemeClr>
                    </a:solidFill>
                    <a:latin typeface="Arial MT"/>
                    <a:cs typeface="Arial MT"/>
                  </a:rPr>
                  <a:t> = probabilità di arrivare al test k senza essersi fermati prima</a:t>
                </a:r>
              </a:p>
              <a:p>
                <a:pPr marL="675640" algn="ctr">
                  <a:lnSpc>
                    <a:spcPts val="3095"/>
                  </a:lnSpc>
                </a:pPr>
                <a:endParaRPr sz="29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97" y="1371600"/>
                <a:ext cx="11154728" cy="5415842"/>
              </a:xfrm>
              <a:prstGeom prst="rect">
                <a:avLst/>
              </a:prstGeom>
              <a:blipFill>
                <a:blip r:embed="rId2"/>
                <a:stretch>
                  <a:fillRect l="-2404" t="-10135" r="-224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egnaposto numero diapositiva 19">
            <a:extLst>
              <a:ext uri="{FF2B5EF4-FFF2-40B4-BE49-F238E27FC236}">
                <a16:creationId xmlns:a16="http://schemas.microsoft.com/office/drawing/2014/main" id="{40CD743B-5DA7-6EEB-EBCC-98CB714D71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5</a:t>
            </a:fld>
            <a:endParaRPr lang="it-IT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462145">
              <a:lnSpc>
                <a:spcPct val="100000"/>
              </a:lnSpc>
              <a:spcBef>
                <a:spcPts val="130"/>
              </a:spcBef>
            </a:pPr>
            <a:r>
              <a:rPr lang="it-IT" spc="-10" dirty="0"/>
              <a:t>Esempio </a:t>
            </a:r>
            <a:endParaRPr spc="-10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42F3C42E-4CD6-DC5C-5B5F-D1A7358F2A7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6</a:t>
            </a:fld>
            <a:endParaRPr lang="it-IT" dirty="0"/>
          </a:p>
        </p:txBody>
      </p:sp>
      <p:pic>
        <p:nvPicPr>
          <p:cNvPr id="15" name="Immagine 14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44CBC0DE-E49B-44D4-8575-A85B72262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27"/>
          <a:stretch>
            <a:fillRect/>
          </a:stretch>
        </p:blipFill>
        <p:spPr>
          <a:xfrm>
            <a:off x="640080" y="1066800"/>
            <a:ext cx="11521440" cy="15557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3">
                <a:extLst>
                  <a:ext uri="{FF2B5EF4-FFF2-40B4-BE49-F238E27FC236}">
                    <a16:creationId xmlns:a16="http://schemas.microsoft.com/office/drawing/2014/main" id="{16D6BC57-E7A8-F6ED-C0BF-7E7EA495BCBB}"/>
                  </a:ext>
                </a:extLst>
              </p:cNvPr>
              <p:cNvSpPr txBox="1"/>
              <p:nvPr/>
            </p:nvSpPr>
            <p:spPr>
              <a:xfrm>
                <a:off x="757872" y="2895600"/>
                <a:ext cx="11285855" cy="5096075"/>
              </a:xfrm>
              <a:prstGeom prst="rect">
                <a:avLst/>
              </a:prstGeom>
            </p:spPr>
            <p:txBody>
              <a:bodyPr vert="horz" wrap="square" lIns="0" tIns="7620" rIns="0" bIns="0" rtlCol="0">
                <a:spAutoFit/>
              </a:bodyPr>
              <a:lstStyle/>
              <a:p>
                <a:pPr marL="482600" marR="43180" indent="-432434">
                  <a:lnSpc>
                    <a:spcPct val="101400"/>
                  </a:lnSpc>
                  <a:spcBef>
                    <a:spcPts val="980"/>
                  </a:spcBef>
                  <a:buFont typeface="Wingdings"/>
                  <a:buChar char=""/>
                  <a:tabLst>
                    <a:tab pos="482600" algn="l"/>
                    <a:tab pos="1745614" algn="l"/>
                  </a:tabLst>
                </a:pPr>
                <a:r>
                  <a:rPr lang="it-IT" sz="3600" spc="-1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Ordine A-&gt;B-&gt;C-&gt;D</a:t>
                </a:r>
                <a:endParaRPr lang="it-IT" sz="3600" dirty="0">
                  <a:latin typeface="Arial MT"/>
                  <a:cs typeface="Arial MT"/>
                </a:endParaRP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14:m>
                  <m:oMath xmlns:m="http://schemas.openxmlformats.org/officeDocument/2006/math">
                    <m:r>
                      <a:rPr lang="it-IT" sz="35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ar-AE" sz="3500" i="1" dirty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3500" i="1" dirty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ar-AE" sz="3500" b="0" i="1" dirty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it-IT" sz="3500" b="0" i="1" dirty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it-IT" sz="3500" b="0" i="1" dirty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it-IT" sz="3500" b="0" i="1" dirty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it-IT" sz="3500" b="0" i="1" dirty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it-IT" sz="3500" b="0" i="1" dirty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  <m:r>
                      <a:rPr lang="it-IT" sz="35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it-IT" sz="35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it-IT" sz="35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it-IT" sz="35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it-IT" sz="35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it-IT" sz="35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it-IT" sz="3500" b="0" i="0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3500" b="0" i="0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it-IT" sz="3500" b="0" i="0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sz="3500" b="0" i="0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825</m:t>
                    </m:r>
                  </m:oMath>
                </a14:m>
                <a:endParaRPr lang="ar-AE" sz="3500" dirty="0">
                  <a:solidFill>
                    <a:srgbClr val="006600"/>
                  </a:solidFill>
                  <a:latin typeface="Arial MT"/>
                  <a:cs typeface="Arial MT"/>
                </a:endParaRPr>
              </a:p>
              <a:p>
                <a:pPr marL="482600" marR="43180" indent="-432434">
                  <a:lnSpc>
                    <a:spcPct val="101400"/>
                  </a:lnSpc>
                  <a:spcBef>
                    <a:spcPts val="980"/>
                  </a:spcBef>
                  <a:buFont typeface="Wingdings"/>
                  <a:buChar char=""/>
                  <a:tabLst>
                    <a:tab pos="482600" algn="l"/>
                    <a:tab pos="1745614" algn="l"/>
                  </a:tabLst>
                </a:pPr>
                <a:r>
                  <a:rPr lang="it-IT" sz="3600" spc="-1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Ordine A-&gt;C-&gt;B-&gt;D</a:t>
                </a:r>
                <a:endParaRPr lang="it-IT" sz="3600" dirty="0">
                  <a:latin typeface="Arial MT"/>
                  <a:cs typeface="Arial MT"/>
                </a:endParaRP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14:m>
                  <m:oMath xmlns:m="http://schemas.openxmlformats.org/officeDocument/2006/math">
                    <m:r>
                      <a:rPr lang="it-IT" sz="35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ar-AE" sz="3500" i="1" dirty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3500" i="1" dirty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ar-AE" sz="3500" b="0" i="1" dirty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it-IT" sz="3500" b="0" i="1" dirty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it-IT" sz="3500" b="0" i="1" dirty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it-IT" sz="3500" b="0" i="1" dirty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it-IT" sz="3500" b="0" i="1" dirty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it-IT" sz="3500" b="0" i="1" dirty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  <m:r>
                      <a:rPr lang="it-IT" sz="35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it-IT" sz="35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it-IT" sz="35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it-IT" sz="35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it-IT" sz="35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it-IT" sz="35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5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35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it-IT" sz="3500" b="0" i="0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3500" b="0" i="0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it-IT" sz="3500" b="0" i="0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sz="3500" b="0" i="0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015</m:t>
                    </m:r>
                  </m:oMath>
                </a14:m>
                <a:endParaRPr lang="ar-AE" sz="3500" dirty="0">
                  <a:solidFill>
                    <a:srgbClr val="006600"/>
                  </a:solidFill>
                  <a:latin typeface="Arial MT"/>
                  <a:cs typeface="Arial MT"/>
                </a:endParaRPr>
              </a:p>
              <a:p>
                <a:pPr marL="625475" marR="629285" lvl="1" algn="just">
                  <a:lnSpc>
                    <a:spcPct val="100000"/>
                  </a:lnSpc>
                  <a:spcBef>
                    <a:spcPts val="965"/>
                  </a:spcBef>
                  <a:tabLst>
                    <a:tab pos="986155" algn="l"/>
                  </a:tabLst>
                </a:pPr>
                <a:endParaRPr lang="it-IT" sz="3500" dirty="0">
                  <a:solidFill>
                    <a:srgbClr val="006600"/>
                  </a:solidFill>
                  <a:latin typeface="Arial MT"/>
                  <a:cs typeface="Arial MT"/>
                </a:endParaRPr>
              </a:p>
              <a:p>
                <a:pPr marL="625475" marR="629285" lvl="1" algn="just">
                  <a:lnSpc>
                    <a:spcPct val="100000"/>
                  </a:lnSpc>
                  <a:spcBef>
                    <a:spcPts val="965"/>
                  </a:spcBef>
                  <a:tabLst>
                    <a:tab pos="986155" algn="l"/>
                  </a:tabLst>
                </a:pPr>
                <a:r>
                  <a:rPr lang="it-IT" sz="35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	​</a:t>
                </a:r>
                <a:endParaRPr sz="3500" dirty="0">
                  <a:latin typeface="Arial MT"/>
                  <a:cs typeface="Arial MT"/>
                </a:endParaRPr>
              </a:p>
            </p:txBody>
          </p:sp>
        </mc:Choice>
        <mc:Fallback xmlns="">
          <p:sp>
            <p:nvSpPr>
              <p:cNvPr id="17" name="object 3">
                <a:extLst>
                  <a:ext uri="{FF2B5EF4-FFF2-40B4-BE49-F238E27FC236}">
                    <a16:creationId xmlns:a16="http://schemas.microsoft.com/office/drawing/2014/main" id="{16D6BC57-E7A8-F6ED-C0BF-7E7EA495B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72" y="2895600"/>
                <a:ext cx="11285855" cy="5096075"/>
              </a:xfrm>
              <a:prstGeom prst="rect">
                <a:avLst/>
              </a:prstGeom>
              <a:blipFill>
                <a:blip r:embed="rId3"/>
                <a:stretch>
                  <a:fillRect l="-1836" t="-3230" b="-191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Complessità(perché</a:t>
            </a:r>
            <a:r>
              <a:rPr spc="80" dirty="0"/>
              <a:t> </a:t>
            </a:r>
            <a:r>
              <a:rPr dirty="0"/>
              <a:t>servono</a:t>
            </a:r>
            <a:r>
              <a:rPr spc="90" dirty="0"/>
              <a:t> </a:t>
            </a:r>
            <a:r>
              <a:rPr spc="-10" dirty="0"/>
              <a:t>euristiche)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7872" y="1447800"/>
            <a:ext cx="11285855" cy="504567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82600" marR="36830" indent="-432434">
              <a:lnSpc>
                <a:spcPct val="101400"/>
              </a:lnSpc>
              <a:spcBef>
                <a:spcPts val="60"/>
              </a:spcBef>
              <a:buFont typeface="Wingdings"/>
              <a:buChar char=""/>
              <a:tabLst>
                <a:tab pos="482600" algn="l"/>
                <a:tab pos="1152525" algn="l"/>
                <a:tab pos="10369550" algn="l"/>
              </a:tabLst>
            </a:pPr>
            <a:r>
              <a:rPr lang="it-IT" sz="3950" dirty="0">
                <a:solidFill>
                  <a:srgbClr val="0000CC"/>
                </a:solidFill>
                <a:latin typeface="Arial MT"/>
                <a:cs typeface="Arial MT"/>
              </a:rPr>
              <a:t>Se non ci sono vincoli (test indipendenti e nessun DAG), l’ordine ottimo è “semplice”</a:t>
            </a:r>
          </a:p>
          <a:p>
            <a:pPr marL="482600" marR="36830" indent="-432434">
              <a:lnSpc>
                <a:spcPct val="101400"/>
              </a:lnSpc>
              <a:spcBef>
                <a:spcPts val="60"/>
              </a:spcBef>
              <a:buFont typeface="Wingdings"/>
              <a:buChar char=""/>
              <a:tabLst>
                <a:tab pos="482600" algn="l"/>
                <a:tab pos="1152525" algn="l"/>
                <a:tab pos="10369550" algn="l"/>
              </a:tabLst>
            </a:pPr>
            <a:r>
              <a:rPr lang="it-IT" sz="3950" spc="-10" dirty="0">
                <a:solidFill>
                  <a:srgbClr val="0000CC"/>
                </a:solidFill>
                <a:latin typeface="Arial MT"/>
                <a:cs typeface="Arial MT"/>
              </a:rPr>
              <a:t>Introducendo vincoli di precedenza generali (ordine parziale/DAG), trovare l’ordine che minimizza il costo atteso diventa NP-hard </a:t>
            </a:r>
            <a:r>
              <a:rPr lang="en-US" sz="4000" spc="-20" dirty="0">
                <a:solidFill>
                  <a:srgbClr val="0000CC"/>
                </a:solidFill>
                <a:latin typeface="Arial MT"/>
                <a:cs typeface="Arial MT"/>
              </a:rPr>
              <a:t>[Berend et al. 14] </a:t>
            </a:r>
            <a:endParaRPr lang="it-IT" sz="3950" spc="-10" dirty="0">
              <a:solidFill>
                <a:srgbClr val="0000CC"/>
              </a:solidFill>
              <a:latin typeface="Arial MT"/>
              <a:cs typeface="Arial MT"/>
            </a:endParaRP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en-US" sz="3500" spc="-20" dirty="0">
                <a:solidFill>
                  <a:srgbClr val="006600"/>
                </a:solidFill>
                <a:latin typeface="Arial MT"/>
                <a:cs typeface="Arial MT"/>
              </a:rPr>
              <a:t>Proof by reduction from the optimal linear arrangement </a:t>
            </a:r>
            <a:endParaRPr lang="en-US" sz="3500" dirty="0">
              <a:latin typeface="Arial MT"/>
              <a:cs typeface="Arial MT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2E93BE6-6535-71F0-6563-35F995153D9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7</a:t>
            </a:fld>
            <a:endParaRPr lang="it-IT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26790">
              <a:lnSpc>
                <a:spcPct val="100000"/>
              </a:lnSpc>
              <a:spcBef>
                <a:spcPts val="130"/>
              </a:spcBef>
            </a:pPr>
            <a:r>
              <a:rPr dirty="0"/>
              <a:t>Metodo</a:t>
            </a:r>
            <a:r>
              <a:rPr spc="50" dirty="0"/>
              <a:t> </a:t>
            </a:r>
            <a:r>
              <a:rPr spc="-10" dirty="0"/>
              <a:t>esatto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703897" y="1079499"/>
                <a:ext cx="11285855" cy="6188233"/>
              </a:xfrm>
              <a:prstGeom prst="rect">
                <a:avLst/>
              </a:prstGeom>
            </p:spPr>
            <p:txBody>
              <a:bodyPr vert="horz" wrap="square" lIns="0" tIns="7620" rIns="0" bIns="0" rtlCol="0">
                <a:spAutoFit/>
              </a:bodyPr>
              <a:lstStyle/>
              <a:p>
                <a:pPr marL="482600" marR="36830" indent="-432434">
                  <a:lnSpc>
                    <a:spcPct val="101400"/>
                  </a:lnSpc>
                  <a:spcBef>
                    <a:spcPts val="60"/>
                  </a:spcBef>
                  <a:buFont typeface="Wingdings"/>
                  <a:buChar char=""/>
                  <a:tabLst>
                    <a:tab pos="482600" algn="l"/>
                    <a:tab pos="1152525" algn="l"/>
                    <a:tab pos="10369550" algn="l"/>
                  </a:tabLst>
                </a:pPr>
                <a:r>
                  <a:rPr lang="it-IT" sz="395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Idea</a:t>
                </a:r>
                <a:endParaRPr sz="3950" dirty="0">
                  <a:latin typeface="Arial MT"/>
                  <a:cs typeface="Arial MT"/>
                </a:endParaRP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r>
                  <a:rPr lang="it-IT" sz="32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Genero tutti gli ordinamenti topologici del DAG</a:t>
                </a: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r>
                  <a:rPr lang="it-IT" sz="32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Calcolo </a:t>
                </a:r>
                <a14:m>
                  <m:oMath xmlns:m="http://schemas.openxmlformats.org/officeDocument/2006/math">
                    <m:r>
                      <a:rPr lang="it-IT" sz="3200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it-IT" sz="3200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32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it-IT" sz="3200" i="1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3200" i="1" dirty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d>
                  </m:oMath>
                </a14:m>
                <a:r>
                  <a:rPr lang="it-IT" sz="3200" dirty="0">
                    <a:latin typeface="Arial MT"/>
                    <a:cs typeface="Arial MT"/>
                  </a:rPr>
                  <a:t> </a:t>
                </a:r>
                <a:r>
                  <a:rPr lang="it-IT" sz="32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 per ciascuno</a:t>
                </a: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r>
                  <a:rPr lang="it-IT" sz="32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Tengo il migliore</a:t>
                </a:r>
              </a:p>
              <a:p>
                <a:pPr marL="482600" marR="36830" indent="-432434">
                  <a:lnSpc>
                    <a:spcPct val="101400"/>
                  </a:lnSpc>
                  <a:spcBef>
                    <a:spcPts val="60"/>
                  </a:spcBef>
                  <a:buFont typeface="Wingdings"/>
                  <a:buChar char=""/>
                  <a:tabLst>
                    <a:tab pos="482600" algn="l"/>
                    <a:tab pos="1152525" algn="l"/>
                    <a:tab pos="10369550" algn="l"/>
                  </a:tabLst>
                </a:pPr>
                <a:r>
                  <a:rPr lang="it-IT" sz="395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Implementazione tramite recursive backtracking</a:t>
                </a:r>
                <a:endParaRPr lang="it-IT" sz="3950" dirty="0">
                  <a:latin typeface="Arial MT"/>
                  <a:cs typeface="Arial MT"/>
                </a:endParaRP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r>
                  <a:rPr lang="it-IT" sz="32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Insieme di nodi candidati = quelli con indegree 0 tra i rimanenti</a:t>
                </a: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r>
                  <a:rPr lang="it-IT" sz="32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Ricorsione su ogni possibile scelta</a:t>
                </a: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r>
                  <a:rPr lang="it-IT" sz="32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Attenzione: esplode rapidamente → usato solo per pochi nodi</a:t>
                </a:r>
                <a:endParaRPr sz="3200" dirty="0">
                  <a:latin typeface="Arial MT"/>
                  <a:cs typeface="Arial MT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97" y="1079499"/>
                <a:ext cx="11285855" cy="6188233"/>
              </a:xfrm>
              <a:prstGeom prst="rect">
                <a:avLst/>
              </a:prstGeom>
              <a:blipFill>
                <a:blip r:embed="rId2"/>
                <a:stretch>
                  <a:fillRect l="-2052" t="-2857" r="-10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95C8A73-DE56-A8C8-8061-B317F110FE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8</a:t>
            </a:fld>
            <a:endParaRPr lang="it-IT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679065">
              <a:lnSpc>
                <a:spcPct val="100000"/>
              </a:lnSpc>
              <a:spcBef>
                <a:spcPts val="130"/>
              </a:spcBef>
            </a:pPr>
            <a:r>
              <a:rPr dirty="0"/>
              <a:t>Simulated</a:t>
            </a:r>
            <a:r>
              <a:rPr spc="60" dirty="0"/>
              <a:t> </a:t>
            </a:r>
            <a:r>
              <a:rPr spc="-10" dirty="0"/>
              <a:t>annealing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703897" y="1079499"/>
                <a:ext cx="11285855" cy="5544082"/>
              </a:xfrm>
              <a:prstGeom prst="rect">
                <a:avLst/>
              </a:prstGeom>
            </p:spPr>
            <p:txBody>
              <a:bodyPr vert="horz" wrap="square" lIns="0" tIns="7620" rIns="0" bIns="0" rtlCol="0">
                <a:spAutoFit/>
              </a:bodyPr>
              <a:lstStyle/>
              <a:p>
                <a:pPr marL="482600" marR="36830" indent="-432434">
                  <a:lnSpc>
                    <a:spcPct val="101400"/>
                  </a:lnSpc>
                  <a:spcBef>
                    <a:spcPts val="60"/>
                  </a:spcBef>
                  <a:buFont typeface="Wingdings"/>
                  <a:buChar char=""/>
                  <a:tabLst>
                    <a:tab pos="482600" algn="l"/>
                    <a:tab pos="1152525" algn="l"/>
                    <a:tab pos="10369550" algn="l"/>
                  </a:tabLst>
                </a:pPr>
                <a:r>
                  <a:rPr lang="it-IT" sz="395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Parto da un ordinamento topologica casuale</a:t>
                </a:r>
                <a:endParaRPr lang="it-IT" sz="3950" dirty="0">
                  <a:latin typeface="Arial MT"/>
                  <a:cs typeface="Arial MT"/>
                </a:endParaRPr>
              </a:p>
              <a:p>
                <a:pPr marL="482600" marR="43180" indent="-432434">
                  <a:lnSpc>
                    <a:spcPct val="101400"/>
                  </a:lnSpc>
                  <a:spcBef>
                    <a:spcPts val="980"/>
                  </a:spcBef>
                  <a:buFont typeface="Wingdings"/>
                  <a:buChar char=""/>
                  <a:tabLst>
                    <a:tab pos="482600" algn="l"/>
                    <a:tab pos="1745614" algn="l"/>
                  </a:tabLst>
                </a:pPr>
                <a:r>
                  <a:rPr lang="it-IT" sz="3950" spc="-1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Mossa utilizzata</a:t>
                </a:r>
                <a:endParaRPr lang="it-IT" sz="3950" dirty="0">
                  <a:latin typeface="Arial MT"/>
                  <a:cs typeface="Arial MT"/>
                </a:endParaRP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r>
                  <a:rPr lang="it-IT" sz="35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swap di due posizioni, accettato solo se l’ordine resta topologico</a:t>
                </a:r>
              </a:p>
              <a:p>
                <a:pPr marL="482600" marR="43180" indent="-432434">
                  <a:lnSpc>
                    <a:spcPct val="101400"/>
                  </a:lnSpc>
                  <a:spcBef>
                    <a:spcPts val="980"/>
                  </a:spcBef>
                  <a:buFont typeface="Wingdings"/>
                  <a:buChar char=""/>
                  <a:tabLst>
                    <a:tab pos="482600" algn="l"/>
                    <a:tab pos="1745614" algn="l"/>
                  </a:tabLst>
                </a:pPr>
                <a:r>
                  <a:rPr lang="it-IT" sz="3950" spc="-1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Regola di accettazione</a:t>
                </a:r>
                <a:endParaRPr lang="it-IT" sz="3950" dirty="0">
                  <a:latin typeface="Arial MT"/>
                  <a:cs typeface="Arial MT"/>
                </a:endParaRP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r>
                  <a:rPr lang="it-IT" sz="35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Se migliora: accetto</a:t>
                </a: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r>
                  <a:rPr lang="it-IT" sz="35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Se peggiora: accetto con probabilità     </a:t>
                </a:r>
                <a:endParaRPr lang="it-IT" sz="3500" b="0" i="0" dirty="0">
                  <a:solidFill>
                    <a:srgbClr val="006600"/>
                  </a:solidFill>
                  <a:latin typeface="Cambria Math" panose="02040503050406030204" pitchFamily="18" charset="0"/>
                </a:endParaRPr>
              </a:p>
              <a:p>
                <a:pPr marL="625475" marR="629285" lvl="1" algn="just">
                  <a:lnSpc>
                    <a:spcPct val="100000"/>
                  </a:lnSpc>
                  <a:spcBef>
                    <a:spcPts val="965"/>
                  </a:spcBef>
                  <a:tabLst>
                    <a:tab pos="98615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35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lang="ar-AE" sz="3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35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accept</m:t>
                          </m:r>
                        </m:e>
                      </m:d>
                      <m:r>
                        <a:rPr lang="ar-AE" sz="35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35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35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d>
                            <m:dPr>
                              <m:ctrlPr>
                                <a:rPr lang="ar-AE" sz="35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350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ar-AE" sz="35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sz="350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num>
                                <m:den>
                                  <m:r>
                                    <a:rPr lang="ar-AE" sz="35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ar-AE" sz="3500" dirty="0">
                  <a:solidFill>
                    <a:schemeClr val="tx1"/>
                  </a:solidFill>
                  <a:latin typeface="Arial MT"/>
                  <a:cs typeface="Arial MT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97" y="1079499"/>
                <a:ext cx="11285855" cy="5544082"/>
              </a:xfrm>
              <a:prstGeom prst="rect">
                <a:avLst/>
              </a:prstGeom>
              <a:blipFill>
                <a:blip r:embed="rId2"/>
                <a:stretch>
                  <a:fillRect l="-2052" t="-318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CF8DAD-17BA-5785-1983-0542F3467E6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9</a:t>
            </a:fld>
            <a:endParaRPr lang="it-IT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E5A37-B36A-981D-178D-232F13309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90D9867-1E46-8C00-A430-6D79017B0D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4875" y="146113"/>
            <a:ext cx="10991850" cy="76302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it-IT" dirty="0"/>
              <a:t>Parametri simulated </a:t>
            </a:r>
            <a:r>
              <a:rPr spc="-10" dirty="0"/>
              <a:t>annealing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A865948-6719-E56C-5257-59B5392A35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10</a:t>
            </a:fld>
            <a:endParaRPr lang="it-IT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983AEFB-E8A4-D71A-E235-B2591B4F9755}"/>
              </a:ext>
            </a:extLst>
          </p:cNvPr>
          <p:cNvSpPr txBox="1"/>
          <p:nvPr/>
        </p:nvSpPr>
        <p:spPr>
          <a:xfrm>
            <a:off x="703897" y="1524000"/>
            <a:ext cx="11285855" cy="5036763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82600" marR="43180" indent="-432434">
              <a:lnSpc>
                <a:spcPct val="101400"/>
              </a:lnSpc>
              <a:spcBef>
                <a:spcPts val="980"/>
              </a:spcBef>
              <a:buFont typeface="Wingdings"/>
              <a:buChar char=""/>
              <a:tabLst>
                <a:tab pos="482600" algn="l"/>
                <a:tab pos="1745614" algn="l"/>
              </a:tabLst>
            </a:pPr>
            <a:r>
              <a:rPr lang="it-IT" sz="3950" spc="-10" dirty="0">
                <a:solidFill>
                  <a:srgbClr val="0000CC"/>
                </a:solidFill>
                <a:latin typeface="Arial MT"/>
                <a:cs typeface="Arial MT"/>
              </a:rPr>
              <a:t>Metodo pratico per settare T_start nel SA</a:t>
            </a:r>
            <a:r>
              <a:rPr lang="it-IT" sz="4000" dirty="0">
                <a:solidFill>
                  <a:srgbClr val="0000CC"/>
                </a:solidFill>
                <a:latin typeface="Arial MT"/>
                <a:cs typeface="Arial MT"/>
              </a:rPr>
              <a:t> [Ben-Ameur</a:t>
            </a:r>
            <a:r>
              <a:rPr lang="it-IT" sz="4000" spc="-120" dirty="0">
                <a:solidFill>
                  <a:srgbClr val="0000CC"/>
                </a:solidFill>
                <a:latin typeface="Arial MT"/>
                <a:cs typeface="Arial MT"/>
              </a:rPr>
              <a:t> 04</a:t>
            </a:r>
            <a:r>
              <a:rPr lang="it-IT" sz="4000" dirty="0">
                <a:solidFill>
                  <a:srgbClr val="0000CC"/>
                </a:solidFill>
                <a:latin typeface="Arial MT"/>
                <a:cs typeface="Arial MT"/>
              </a:rPr>
              <a:t>]</a:t>
            </a:r>
            <a:r>
              <a:rPr lang="it-IT" sz="4000" spc="-8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endParaRPr sz="3950" dirty="0">
              <a:latin typeface="Arial MT"/>
              <a:cs typeface="Arial MT"/>
            </a:endParaRPr>
          </a:p>
          <a:p>
            <a:pPr marL="1139825" marR="629285" lvl="1" indent="-514350" algn="just">
              <a:lnSpc>
                <a:spcPct val="100000"/>
              </a:lnSpc>
              <a:spcBef>
                <a:spcPts val="965"/>
              </a:spcBef>
              <a:buFont typeface="+mj-lt"/>
              <a:buAutoNum type="arabicPeriod"/>
              <a:tabLst>
                <a:tab pos="986155" algn="l"/>
              </a:tabLst>
            </a:pPr>
            <a:r>
              <a:rPr lang="it-IT" sz="2800" dirty="0">
                <a:solidFill>
                  <a:srgbClr val="006600"/>
                </a:solidFill>
                <a:latin typeface="Arial MT"/>
                <a:cs typeface="Arial MT"/>
              </a:rPr>
              <a:t>Prendi un ordine topologico casuale</a:t>
            </a:r>
          </a:p>
          <a:p>
            <a:pPr marL="1139825" marR="629285" lvl="1" indent="-514350" algn="just">
              <a:lnSpc>
                <a:spcPct val="100000"/>
              </a:lnSpc>
              <a:spcBef>
                <a:spcPts val="965"/>
              </a:spcBef>
              <a:buFont typeface="+mj-lt"/>
              <a:buAutoNum type="arabicPeriod"/>
              <a:tabLst>
                <a:tab pos="986155" algn="l"/>
              </a:tabLst>
            </a:pPr>
            <a:r>
              <a:rPr lang="it-IT" sz="2800" dirty="0">
                <a:solidFill>
                  <a:srgbClr val="006600"/>
                </a:solidFill>
                <a:latin typeface="Arial MT"/>
                <a:cs typeface="Arial MT"/>
              </a:rPr>
              <a:t>Prova tante mosse try_swap a caso</a:t>
            </a:r>
          </a:p>
          <a:p>
            <a:pPr marL="1139825" marR="629285" lvl="1" indent="-514350" algn="just">
              <a:lnSpc>
                <a:spcPct val="100000"/>
              </a:lnSpc>
              <a:spcBef>
                <a:spcPts val="965"/>
              </a:spcBef>
              <a:buFont typeface="+mj-lt"/>
              <a:buAutoNum type="arabicPeriod"/>
              <a:tabLst>
                <a:tab pos="986155" algn="l"/>
              </a:tabLst>
            </a:pPr>
            <a:r>
              <a:rPr lang="it-IT" sz="2800" dirty="0">
                <a:solidFill>
                  <a:srgbClr val="006600"/>
                </a:solidFill>
                <a:latin typeface="Arial MT"/>
                <a:cs typeface="Arial MT"/>
              </a:rPr>
              <a:t>Per le mosse valide, calcola delta = neighbor_cost - current_cost</a:t>
            </a:r>
          </a:p>
          <a:p>
            <a:pPr marL="1139825" marR="629285" lvl="1" indent="-514350" algn="just">
              <a:lnSpc>
                <a:spcPct val="100000"/>
              </a:lnSpc>
              <a:spcBef>
                <a:spcPts val="965"/>
              </a:spcBef>
              <a:buFont typeface="+mj-lt"/>
              <a:buAutoNum type="arabicPeriod"/>
              <a:tabLst>
                <a:tab pos="986155" algn="l"/>
              </a:tabLst>
            </a:pPr>
            <a:r>
              <a:rPr lang="it-IT" sz="2800" dirty="0">
                <a:solidFill>
                  <a:srgbClr val="006600"/>
                </a:solidFill>
                <a:latin typeface="Arial MT"/>
                <a:cs typeface="Arial MT"/>
              </a:rPr>
              <a:t>Raccogli solo i delta &gt; 0</a:t>
            </a:r>
          </a:p>
          <a:p>
            <a:pPr marL="1139825" marR="629285" lvl="1" indent="-514350" algn="just">
              <a:lnSpc>
                <a:spcPct val="100000"/>
              </a:lnSpc>
              <a:spcBef>
                <a:spcPts val="965"/>
              </a:spcBef>
              <a:buFont typeface="+mj-lt"/>
              <a:buAutoNum type="arabicPeriod"/>
              <a:tabLst>
                <a:tab pos="986155" algn="l"/>
              </a:tabLst>
            </a:pPr>
            <a:r>
              <a:rPr lang="it-IT" sz="2800" dirty="0">
                <a:solidFill>
                  <a:srgbClr val="006600"/>
                </a:solidFill>
                <a:latin typeface="Arial MT"/>
                <a:cs typeface="Arial MT"/>
              </a:rPr>
              <a:t>Prendi la mediana d</a:t>
            </a:r>
          </a:p>
          <a:p>
            <a:pPr marL="1139825" marR="629285" lvl="1" indent="-514350" algn="just">
              <a:lnSpc>
                <a:spcPct val="100000"/>
              </a:lnSpc>
              <a:spcBef>
                <a:spcPts val="965"/>
              </a:spcBef>
              <a:buFont typeface="+mj-lt"/>
              <a:buAutoNum type="arabicPeriod"/>
              <a:tabLst>
                <a:tab pos="986155" algn="l"/>
              </a:tabLst>
            </a:pPr>
            <a:r>
              <a:rPr lang="it-IT" sz="2800" dirty="0">
                <a:solidFill>
                  <a:srgbClr val="006600"/>
                </a:solidFill>
                <a:latin typeface="Arial MT"/>
                <a:cs typeface="Arial MT"/>
              </a:rPr>
              <a:t>Imposta T_start = - d / ln(p0) con p0 tra 0.7 e 0.9 (0.8)</a:t>
            </a:r>
          </a:p>
        </p:txBody>
      </p:sp>
    </p:spTree>
    <p:extLst>
      <p:ext uri="{BB962C8B-B14F-4D97-AF65-F5344CB8AC3E}">
        <p14:creationId xmlns:p14="http://schemas.microsoft.com/office/powerpoint/2010/main" val="1341549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180CB-A179-672C-5D90-6D797A906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06C96A6-0985-207F-4B86-B0A7D6AA96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4875" y="146113"/>
            <a:ext cx="10991850" cy="76302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it-IT" dirty="0"/>
              <a:t>Parametri simulated </a:t>
            </a:r>
            <a:r>
              <a:rPr spc="-10" dirty="0"/>
              <a:t>annealing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D179F5-8FFB-4338-D7A1-7BE4992074D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11</a:t>
            </a:fld>
            <a:endParaRPr lang="it-IT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BC9BA10-C176-7338-6593-4F62C230AEC9}"/>
              </a:ext>
            </a:extLst>
          </p:cNvPr>
          <p:cNvSpPr txBox="1"/>
          <p:nvPr/>
        </p:nvSpPr>
        <p:spPr>
          <a:xfrm>
            <a:off x="703897" y="1524000"/>
            <a:ext cx="11285855" cy="3472104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82600" marR="43180" indent="-432434">
              <a:lnSpc>
                <a:spcPct val="101400"/>
              </a:lnSpc>
              <a:spcBef>
                <a:spcPts val="980"/>
              </a:spcBef>
              <a:buFont typeface="Wingdings"/>
              <a:buChar char=""/>
              <a:tabLst>
                <a:tab pos="482600" algn="l"/>
                <a:tab pos="1745614" algn="l"/>
              </a:tabLst>
            </a:pPr>
            <a:r>
              <a:rPr lang="it-IT" sz="3950" spc="-10" dirty="0">
                <a:solidFill>
                  <a:srgbClr val="0000CC"/>
                </a:solidFill>
                <a:latin typeface="Arial MT"/>
                <a:cs typeface="Arial MT"/>
              </a:rPr>
              <a:t>Utilizzando ragionamenti analoghi, i parametri sono stati impostati nel seguente modo:</a:t>
            </a:r>
            <a:endParaRPr sz="3950" dirty="0">
              <a:latin typeface="Arial MT"/>
              <a:cs typeface="Arial MT"/>
            </a:endParaRPr>
          </a:p>
          <a:p>
            <a:pPr marL="1139825" marR="629285" lvl="1" indent="-514350" algn="just">
              <a:lnSpc>
                <a:spcPct val="100000"/>
              </a:lnSpc>
              <a:spcBef>
                <a:spcPts val="965"/>
              </a:spcBef>
              <a:buFont typeface="Wingdings" panose="05000000000000000000" pitchFamily="2" charset="2"/>
              <a:buChar char="§"/>
              <a:tabLst>
                <a:tab pos="986155" algn="l"/>
              </a:tabLst>
            </a:pPr>
            <a:r>
              <a:rPr lang="it-IT" sz="2800" dirty="0">
                <a:solidFill>
                  <a:srgbClr val="006600"/>
                </a:solidFill>
                <a:latin typeface="Arial MT"/>
                <a:cs typeface="Arial MT"/>
              </a:rPr>
              <a:t>T_start=50.0</a:t>
            </a:r>
          </a:p>
          <a:p>
            <a:pPr marL="1139825" marR="629285" lvl="1" indent="-514350" algn="just">
              <a:lnSpc>
                <a:spcPct val="100000"/>
              </a:lnSpc>
              <a:spcBef>
                <a:spcPts val="965"/>
              </a:spcBef>
              <a:buFont typeface="Wingdings" panose="05000000000000000000" pitchFamily="2" charset="2"/>
              <a:buChar char="§"/>
              <a:tabLst>
                <a:tab pos="986155" algn="l"/>
              </a:tabLst>
            </a:pPr>
            <a:r>
              <a:rPr lang="it-IT" sz="2800" dirty="0">
                <a:solidFill>
                  <a:srgbClr val="006600"/>
                </a:solidFill>
                <a:latin typeface="Arial MT"/>
                <a:cs typeface="Arial MT"/>
              </a:rPr>
              <a:t>T_end=1.0</a:t>
            </a:r>
          </a:p>
          <a:p>
            <a:pPr marL="1139825" marR="629285" lvl="1" indent="-514350" algn="just">
              <a:lnSpc>
                <a:spcPct val="100000"/>
              </a:lnSpc>
              <a:spcBef>
                <a:spcPts val="965"/>
              </a:spcBef>
              <a:buFont typeface="Wingdings" panose="05000000000000000000" pitchFamily="2" charset="2"/>
              <a:buChar char="§"/>
              <a:tabLst>
                <a:tab pos="986155" algn="l"/>
              </a:tabLst>
            </a:pPr>
            <a:r>
              <a:rPr lang="it-IT" sz="2800" dirty="0">
                <a:solidFill>
                  <a:srgbClr val="006600"/>
                </a:solidFill>
                <a:latin typeface="Arial MT"/>
                <a:cs typeface="Arial MT"/>
              </a:rPr>
              <a:t>alpha=0.99</a:t>
            </a:r>
          </a:p>
          <a:p>
            <a:pPr marL="1139825" marR="629285" lvl="1" indent="-514350" algn="just">
              <a:lnSpc>
                <a:spcPct val="100000"/>
              </a:lnSpc>
              <a:spcBef>
                <a:spcPts val="965"/>
              </a:spcBef>
              <a:buFont typeface="Wingdings" panose="05000000000000000000" pitchFamily="2" charset="2"/>
              <a:buChar char="§"/>
              <a:tabLst>
                <a:tab pos="986155" algn="l"/>
              </a:tabLst>
            </a:pPr>
            <a:r>
              <a:rPr lang="it-IT" sz="2800" dirty="0">
                <a:solidFill>
                  <a:srgbClr val="006600"/>
                </a:solidFill>
                <a:latin typeface="Arial MT"/>
                <a:cs typeface="Arial MT"/>
              </a:rPr>
              <a:t>iters_per_T=200</a:t>
            </a:r>
          </a:p>
        </p:txBody>
      </p:sp>
    </p:spTree>
    <p:extLst>
      <p:ext uri="{BB962C8B-B14F-4D97-AF65-F5344CB8AC3E}">
        <p14:creationId xmlns:p14="http://schemas.microsoft.com/office/powerpoint/2010/main" val="4281586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146113"/>
            <a:ext cx="12039600" cy="76302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it-IT" dirty="0"/>
              <a:t>Euristiche</a:t>
            </a:r>
            <a:r>
              <a:rPr spc="-55" dirty="0"/>
              <a:t> </a:t>
            </a:r>
            <a:r>
              <a:rPr spc="-10" dirty="0"/>
              <a:t>greedy</a:t>
            </a:r>
            <a:r>
              <a:rPr lang="it-IT" spc="-10" dirty="0"/>
              <a:t>(costruzione incrementale)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03897" y="1524000"/>
            <a:ext cx="11285855" cy="2493952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82600" marR="43180" indent="-432434">
              <a:lnSpc>
                <a:spcPct val="101400"/>
              </a:lnSpc>
              <a:spcBef>
                <a:spcPts val="980"/>
              </a:spcBef>
              <a:buFont typeface="Wingdings"/>
              <a:buChar char=""/>
              <a:tabLst>
                <a:tab pos="482600" algn="l"/>
                <a:tab pos="1745614" algn="l"/>
              </a:tabLst>
            </a:pPr>
            <a:r>
              <a:rPr lang="it-IT" sz="3950" spc="-10" dirty="0">
                <a:solidFill>
                  <a:srgbClr val="0000CC"/>
                </a:solidFill>
                <a:latin typeface="Arial MT"/>
                <a:cs typeface="Arial MT"/>
              </a:rPr>
              <a:t>Schema</a:t>
            </a:r>
            <a:endParaRPr sz="3950" dirty="0">
              <a:latin typeface="Arial MT"/>
              <a:cs typeface="Arial MT"/>
            </a:endParaRP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500" dirty="0">
                <a:solidFill>
                  <a:srgbClr val="006600"/>
                </a:solidFill>
                <a:latin typeface="Arial MT"/>
                <a:cs typeface="Arial MT"/>
              </a:rPr>
              <a:t>Mantengo i nodi “disponibili” (indegree 0)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500" dirty="0">
                <a:solidFill>
                  <a:srgbClr val="006600"/>
                </a:solidFill>
                <a:latin typeface="Arial MT"/>
                <a:cs typeface="Arial MT"/>
              </a:rPr>
              <a:t>A ogni passo scelgo il nodo con score minimo: score1(𝑖)=𝑐(𝑖)/𝑝(𝑖) 	 score2(𝑖)=𝑐(𝑖)/(1-𝑝(𝑖)) ​</a:t>
            </a:r>
            <a:endParaRPr sz="3500" dirty="0">
              <a:latin typeface="Arial MT"/>
              <a:cs typeface="Arial MT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85A17E-0AE2-3EE3-F63F-367C7EFDFA3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12</a:t>
            </a:fld>
            <a:endParaRPr lang="it-IT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89326-6A7D-B340-E337-BA2BC3201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67A7C4-A12B-0280-4F73-AF1798DFBF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146113"/>
            <a:ext cx="12039600" cy="76302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it-IT" dirty="0"/>
              <a:t>Esempio euristica</a:t>
            </a:r>
            <a:r>
              <a:rPr spc="-55" dirty="0"/>
              <a:t> </a:t>
            </a:r>
            <a:r>
              <a:rPr spc="-10" dirty="0"/>
              <a:t>greedy</a:t>
            </a:r>
            <a:r>
              <a:rPr lang="it-IT" spc="-10" dirty="0"/>
              <a:t>1</a:t>
            </a:r>
            <a:endParaRPr spc="-1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B2D4237-DA6C-C8A1-EA03-99C046AA16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13</a:t>
            </a:fld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92FD74C-0247-68B9-5D25-3F541C086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110" y="1312450"/>
            <a:ext cx="10249376" cy="1066798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6C0F2287-7301-2561-F86B-FC4F5FFC1C20}"/>
              </a:ext>
            </a:extLst>
          </p:cNvPr>
          <p:cNvSpPr txBox="1"/>
          <p:nvPr/>
        </p:nvSpPr>
        <p:spPr>
          <a:xfrm>
            <a:off x="757870" y="2667000"/>
            <a:ext cx="11285855" cy="569111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82600" marR="43180" indent="-432434">
              <a:lnSpc>
                <a:spcPct val="101400"/>
              </a:lnSpc>
              <a:spcBef>
                <a:spcPts val="980"/>
              </a:spcBef>
              <a:buFont typeface="Wingdings"/>
              <a:buChar char=""/>
              <a:tabLst>
                <a:tab pos="482600" algn="l"/>
                <a:tab pos="1745614" algn="l"/>
              </a:tabLst>
            </a:pPr>
            <a:r>
              <a:rPr lang="it-IT" sz="3200" spc="-10" dirty="0">
                <a:solidFill>
                  <a:srgbClr val="0000CC"/>
                </a:solidFill>
                <a:latin typeface="Arial MT"/>
                <a:cs typeface="Arial MT"/>
              </a:rPr>
              <a:t>Esecuzione Greedy</a:t>
            </a:r>
            <a:endParaRPr lang="it-IT" sz="3200" dirty="0">
              <a:solidFill>
                <a:srgbClr val="006600"/>
              </a:solidFill>
              <a:latin typeface="Arial MT"/>
              <a:cs typeface="Arial MT"/>
            </a:endParaRP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2400" dirty="0">
                <a:solidFill>
                  <a:srgbClr val="006600"/>
                </a:solidFill>
                <a:latin typeface="Arial MT"/>
                <a:cs typeface="Arial MT"/>
              </a:rPr>
              <a:t>Calcolo score1: score(A)=6.67 score(B)=3.33 score(C)=6.25 score(D)=4.21 score(E)=1.43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2400" dirty="0">
                <a:solidFill>
                  <a:srgbClr val="006600"/>
                </a:solidFill>
                <a:latin typeface="Arial MT"/>
                <a:cs typeface="Arial MT"/>
              </a:rPr>
              <a:t>Step 0 disponibili: {A, B} → min score = B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2400" dirty="0">
                <a:solidFill>
                  <a:srgbClr val="006600"/>
                </a:solidFill>
                <a:latin typeface="Arial MT"/>
                <a:cs typeface="Arial MT"/>
              </a:rPr>
              <a:t>Step 1 disponibili: {A, D} (D sblocca perché dipende solo da B) → min = D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2400" dirty="0">
                <a:solidFill>
                  <a:srgbClr val="006600"/>
                </a:solidFill>
                <a:latin typeface="Arial MT"/>
                <a:cs typeface="Arial MT"/>
              </a:rPr>
              <a:t>Step 2 disponibili: {A} → A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2400" dirty="0">
                <a:solidFill>
                  <a:srgbClr val="006600"/>
                </a:solidFill>
                <a:latin typeface="Arial MT"/>
                <a:cs typeface="Arial MT"/>
              </a:rPr>
              <a:t>Step 3 disponibili: {C} (C sblocca perché A e B sono fatti) → C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2400" dirty="0">
                <a:solidFill>
                  <a:srgbClr val="006600"/>
                </a:solidFill>
                <a:latin typeface="Arial MT"/>
                <a:cs typeface="Arial MT"/>
              </a:rPr>
              <a:t>Step 4 disponibili: {E} (E sblocca perché C e D sono fatti) → E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endParaRPr lang="it-IT" sz="3500" dirty="0">
              <a:solidFill>
                <a:srgbClr val="006600"/>
              </a:solidFill>
              <a:latin typeface="Arial MT"/>
              <a:cs typeface="Arial MT"/>
            </a:endParaRPr>
          </a:p>
          <a:p>
            <a:pPr marL="625475" marR="629285" lvl="1" algn="just">
              <a:lnSpc>
                <a:spcPct val="100000"/>
              </a:lnSpc>
              <a:spcBef>
                <a:spcPts val="965"/>
              </a:spcBef>
              <a:tabLst>
                <a:tab pos="986155" algn="l"/>
              </a:tabLst>
            </a:pPr>
            <a:r>
              <a:rPr lang="it-IT" sz="3500" dirty="0">
                <a:solidFill>
                  <a:srgbClr val="006600"/>
                </a:solidFill>
                <a:latin typeface="Arial MT"/>
                <a:cs typeface="Arial MT"/>
              </a:rPr>
              <a:t> 	​</a:t>
            </a:r>
            <a:endParaRPr lang="it-IT" sz="35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462204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2864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Implementazione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3897" y="1219200"/>
            <a:ext cx="11285855" cy="3404458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82600" marR="43180" indent="-432434">
              <a:lnSpc>
                <a:spcPct val="101400"/>
              </a:lnSpc>
              <a:spcBef>
                <a:spcPts val="980"/>
              </a:spcBef>
              <a:buFont typeface="Wingdings"/>
              <a:buChar char=""/>
              <a:tabLst>
                <a:tab pos="482600" algn="l"/>
                <a:tab pos="1745614" algn="l"/>
              </a:tabLst>
            </a:pPr>
            <a:r>
              <a:rPr lang="it-IT" sz="3950" spc="-10" dirty="0">
                <a:solidFill>
                  <a:srgbClr val="0000CC"/>
                </a:solidFill>
                <a:latin typeface="Arial MT"/>
                <a:cs typeface="Arial MT"/>
              </a:rPr>
              <a:t>Librerie</a:t>
            </a:r>
            <a:endParaRPr sz="3950" dirty="0">
              <a:latin typeface="Arial MT"/>
              <a:cs typeface="Arial MT"/>
            </a:endParaRP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600" i="1" dirty="0">
                <a:solidFill>
                  <a:srgbClr val="A3001F"/>
                </a:solidFill>
                <a:latin typeface="Arial"/>
                <a:cs typeface="Arial"/>
              </a:rPr>
              <a:t>Networkx</a:t>
            </a:r>
            <a:r>
              <a:rPr lang="it-IT" sz="3500" dirty="0">
                <a:solidFill>
                  <a:srgbClr val="006600"/>
                </a:solidFill>
                <a:latin typeface="Arial MT"/>
                <a:cs typeface="Arial MT"/>
              </a:rPr>
              <a:t> per DAG e topological sort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600" i="1" dirty="0">
                <a:solidFill>
                  <a:srgbClr val="A3001F"/>
                </a:solidFill>
                <a:latin typeface="Arial"/>
                <a:cs typeface="Arial"/>
              </a:rPr>
              <a:t>Streamlit </a:t>
            </a:r>
            <a:r>
              <a:rPr lang="it-IT" sz="3500" dirty="0">
                <a:solidFill>
                  <a:srgbClr val="006600"/>
                </a:solidFill>
                <a:latin typeface="Arial MT"/>
                <a:cs typeface="Arial MT"/>
              </a:rPr>
              <a:t>per demo interattiva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600" i="1" dirty="0">
                <a:solidFill>
                  <a:srgbClr val="A3001F"/>
                </a:solidFill>
                <a:latin typeface="Arial"/>
                <a:cs typeface="Arial"/>
              </a:rPr>
              <a:t>Pandas</a:t>
            </a:r>
            <a:r>
              <a:rPr lang="it-IT" sz="3500" dirty="0">
                <a:solidFill>
                  <a:srgbClr val="006600"/>
                </a:solidFill>
                <a:latin typeface="Arial MT"/>
                <a:cs typeface="Arial MT"/>
              </a:rPr>
              <a:t> + export Excel per risultati batch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600" i="1" dirty="0">
                <a:solidFill>
                  <a:srgbClr val="A3001F"/>
                </a:solidFill>
                <a:latin typeface="Arial"/>
                <a:cs typeface="Arial"/>
              </a:rPr>
              <a:t>Matplotlib</a:t>
            </a:r>
            <a:r>
              <a:rPr lang="it-IT" sz="3500" dirty="0">
                <a:solidFill>
                  <a:srgbClr val="006600"/>
                </a:solidFill>
                <a:latin typeface="Arial MT"/>
                <a:cs typeface="Arial MT"/>
              </a:rPr>
              <a:t> per plot grafico</a:t>
            </a:r>
            <a:endParaRPr sz="3500" dirty="0">
              <a:latin typeface="Arial MT"/>
              <a:cs typeface="Arial MT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D4136A9-982A-CF80-7169-25F608457F2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14</a:t>
            </a:fld>
            <a:endParaRPr lang="it-IT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D89FC-6AFD-8767-4B11-71D279EBB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8C1777E-ACAA-5F36-1049-EF34913EB2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2864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Implementazione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3004383-EB8D-5190-D673-D2D735CB735B}"/>
              </a:ext>
            </a:extLst>
          </p:cNvPr>
          <p:cNvSpPr txBox="1"/>
          <p:nvPr/>
        </p:nvSpPr>
        <p:spPr>
          <a:xfrm>
            <a:off x="703897" y="1219200"/>
            <a:ext cx="11285855" cy="630781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82600" marR="43180" indent="-432434">
              <a:lnSpc>
                <a:spcPct val="101400"/>
              </a:lnSpc>
              <a:spcBef>
                <a:spcPts val="980"/>
              </a:spcBef>
              <a:buFont typeface="Wingdings"/>
              <a:buChar char=""/>
              <a:tabLst>
                <a:tab pos="482600" algn="l"/>
                <a:tab pos="1745614" algn="l"/>
              </a:tabLst>
            </a:pPr>
            <a:r>
              <a:rPr lang="it-IT" sz="3950" spc="-10" dirty="0">
                <a:solidFill>
                  <a:srgbClr val="0000CC"/>
                </a:solidFill>
                <a:latin typeface="Arial MT"/>
                <a:cs typeface="Arial MT"/>
              </a:rPr>
              <a:t>Struttura file</a:t>
            </a:r>
            <a:endParaRPr sz="3950" dirty="0">
              <a:latin typeface="Arial MT"/>
              <a:cs typeface="Arial MT"/>
            </a:endParaRP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600" i="1" dirty="0">
                <a:solidFill>
                  <a:srgbClr val="A3001F"/>
                </a:solidFill>
                <a:latin typeface="Arial"/>
                <a:cs typeface="Arial"/>
              </a:rPr>
              <a:t>problem.py</a:t>
            </a:r>
            <a:r>
              <a:rPr lang="it-IT" sz="3500" dirty="0">
                <a:solidFill>
                  <a:srgbClr val="006600"/>
                </a:solidFill>
                <a:latin typeface="Arial MT"/>
                <a:cs typeface="Arial MT"/>
              </a:rPr>
              <a:t>: modello/ expected_cost()/ mosse valide (try_swap)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600" i="1" dirty="0">
                <a:solidFill>
                  <a:srgbClr val="A3001F"/>
                </a:solidFill>
                <a:latin typeface="Arial"/>
                <a:cs typeface="Arial"/>
              </a:rPr>
              <a:t>exact.py</a:t>
            </a:r>
            <a:r>
              <a:rPr lang="it-IT" sz="3500" dirty="0">
                <a:solidFill>
                  <a:srgbClr val="006600"/>
                </a:solidFill>
                <a:latin typeface="Arial MT"/>
                <a:cs typeface="Arial MT"/>
              </a:rPr>
              <a:t>: enumerazione di tutti i topological sort(backtracking)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600" i="1" dirty="0">
                <a:solidFill>
                  <a:srgbClr val="A3001F"/>
                </a:solidFill>
                <a:latin typeface="Arial"/>
                <a:cs typeface="Arial"/>
              </a:rPr>
              <a:t>heuristics.py</a:t>
            </a:r>
            <a:r>
              <a:rPr lang="it-IT" sz="3500" dirty="0">
                <a:solidFill>
                  <a:srgbClr val="006600"/>
                </a:solidFill>
                <a:latin typeface="Arial MT"/>
                <a:cs typeface="Arial MT"/>
              </a:rPr>
              <a:t>: greedy + simulated annealing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600" i="1" dirty="0">
                <a:solidFill>
                  <a:srgbClr val="A3001F"/>
                </a:solidFill>
                <a:latin typeface="Arial"/>
                <a:cs typeface="Arial"/>
              </a:rPr>
              <a:t>app.py</a:t>
            </a:r>
            <a:r>
              <a:rPr lang="it-IT" sz="3500" dirty="0">
                <a:solidFill>
                  <a:srgbClr val="006600"/>
                </a:solidFill>
                <a:latin typeface="Arial MT"/>
                <a:cs typeface="Arial MT"/>
              </a:rPr>
              <a:t>: UI Streamlit + grafici + export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600" i="1" dirty="0">
                <a:solidFill>
                  <a:srgbClr val="A3001F"/>
                </a:solidFill>
                <a:latin typeface="Arial"/>
                <a:cs typeface="Arial"/>
              </a:rPr>
              <a:t>batch_run.py</a:t>
            </a:r>
            <a:r>
              <a:rPr lang="it-IT" sz="3500" dirty="0">
                <a:solidFill>
                  <a:srgbClr val="006600"/>
                </a:solidFill>
                <a:latin typeface="Arial MT"/>
                <a:cs typeface="Arial MT"/>
              </a:rPr>
              <a:t>: esecuzione su cartella /test e salvataggio batch_results.xlsx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endParaRPr sz="3500" dirty="0">
              <a:latin typeface="Arial MT"/>
              <a:cs typeface="Arial MT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5DFDEA8-E0A0-2AB2-25A3-95696D7F718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00757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8D3F7-67A1-EB98-C0DD-30A48C1A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33A6F7D-2989-C7EF-D655-812EF2E6AC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it-IT" spc="-10" dirty="0"/>
              <a:t>Interfaccia applicazione</a:t>
            </a:r>
            <a:endParaRPr spc="-1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ACF0C5-3B54-887C-6EE1-9879630DE4D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16</a:t>
            </a:fld>
            <a:endParaRPr lang="it-IT" dirty="0"/>
          </a:p>
        </p:txBody>
      </p:sp>
      <p:pic>
        <p:nvPicPr>
          <p:cNvPr id="6" name="Immagine 5" descr="Immagine che contiene schermata, testo, Diagramma, software">
            <a:extLst>
              <a:ext uri="{FF2B5EF4-FFF2-40B4-BE49-F238E27FC236}">
                <a16:creationId xmlns:a16="http://schemas.microsoft.com/office/drawing/2014/main" id="{15E7034E-C7F4-AC39-1604-9DA0AD492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4" y="1371600"/>
            <a:ext cx="11844632" cy="539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74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it-IT" spc="-20" dirty="0"/>
              <a:t>Dataset di t</a:t>
            </a:r>
            <a:r>
              <a:rPr spc="-20" dirty="0"/>
              <a:t>est</a:t>
            </a:r>
            <a:r>
              <a:rPr lang="it-IT" spc="-20" dirty="0"/>
              <a:t>(120 istanze)</a:t>
            </a:r>
            <a:endParaRPr spc="-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703897" y="1079499"/>
                <a:ext cx="11285855" cy="6779548"/>
              </a:xfrm>
              <a:prstGeom prst="rect">
                <a:avLst/>
              </a:prstGeom>
            </p:spPr>
            <p:txBody>
              <a:bodyPr vert="horz" wrap="square" lIns="0" tIns="7620" rIns="0" bIns="0" rtlCol="0">
                <a:spAutoFit/>
              </a:bodyPr>
              <a:lstStyle/>
              <a:p>
                <a:pPr marL="482600" marR="43180" indent="-432434">
                  <a:lnSpc>
                    <a:spcPct val="101400"/>
                  </a:lnSpc>
                  <a:spcBef>
                    <a:spcPts val="980"/>
                  </a:spcBef>
                  <a:buFont typeface="Wingdings"/>
                  <a:buChar char=""/>
                  <a:tabLst>
                    <a:tab pos="482600" algn="l"/>
                    <a:tab pos="1745614" algn="l"/>
                  </a:tabLst>
                </a:pPr>
                <a:r>
                  <a:rPr lang="it-IT" sz="3600" spc="-1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Struttura complessiva</a:t>
                </a:r>
                <a:endParaRPr lang="it-IT" sz="3600" dirty="0">
                  <a:latin typeface="Arial MT"/>
                  <a:cs typeface="Arial MT"/>
                </a:endParaRP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r>
                  <a:rPr lang="it-IT" sz="28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Totale: 120 istanze di DAG</a:t>
                </a: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r>
                  <a:rPr lang="it-IT" sz="28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3 gruppi per dimensione</a:t>
                </a:r>
              </a:p>
              <a:p>
                <a:pPr marL="1450340" lvl="2" indent="-287655">
                  <a:lnSpc>
                    <a:spcPct val="100000"/>
                  </a:lnSpc>
                  <a:spcBef>
                    <a:spcPts val="770"/>
                  </a:spcBef>
                  <a:buChar char="•"/>
                  <a:tabLst>
                    <a:tab pos="1450340" algn="l"/>
                  </a:tabLst>
                </a:pPr>
                <a14:m>
                  <m:oMath xmlns:m="http://schemas.openxmlformats.org/officeDocument/2006/math">
                    <m:r>
                      <a:rPr lang="it-IT" sz="2400" i="1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sz="2400" i="1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it-IT" sz="2400" b="0" i="0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it-IT" sz="2400" i="1" dirty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i="1" dirty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it-IT" sz="2400" i="0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=15</m:t>
                    </m:r>
                    <m:r>
                      <a:rPr lang="it-IT" sz="2400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it-IT" sz="2400" b="0" i="0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40 </m:t>
                    </m:r>
                    <m:r>
                      <m:rPr>
                        <m:sty m:val="p"/>
                      </m:rPr>
                      <a:rPr lang="it-IT" sz="2400" b="0" i="0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istanze</m:t>
                    </m:r>
                  </m:oMath>
                </a14:m>
                <a:endParaRPr lang="it-IT" sz="2400" dirty="0">
                  <a:latin typeface="Arial MT"/>
                  <a:cs typeface="Arial MT"/>
                </a:endParaRPr>
              </a:p>
              <a:p>
                <a:pPr marL="1450340" lvl="2" indent="-287655">
                  <a:spcBef>
                    <a:spcPts val="770"/>
                  </a:spcBef>
                  <a:buFontTx/>
                  <a:buChar char="•"/>
                  <a:tabLst>
                    <a:tab pos="1450340" algn="l"/>
                  </a:tabLst>
                </a:pPr>
                <a14:m>
                  <m:oMath xmlns:m="http://schemas.openxmlformats.org/officeDocument/2006/math">
                    <m:r>
                      <a:rPr lang="it-IT" sz="2400" i="1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sz="2400" i="1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it-IT" sz="2400" b="0" i="0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5, </m:t>
                    </m:r>
                    <m:d>
                      <m:dPr>
                        <m:begChr m:val="|"/>
                        <m:endChr m:val="|"/>
                        <m:ctrlPr>
                          <a:rPr lang="it-IT" sz="2400" i="1" dirty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i="1" dirty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it-IT" sz="2400" i="0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400" b="0" i="0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a:rPr lang="it-IT" sz="2400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it-IT" sz="2400" b="0" i="0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40 </m:t>
                    </m:r>
                    <m:r>
                      <m:rPr>
                        <m:sty m:val="p"/>
                      </m:rPr>
                      <a:rPr lang="it-IT" sz="2400" b="0" i="0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istanze</m:t>
                    </m:r>
                  </m:oMath>
                </a14:m>
                <a:endParaRPr lang="it-IT" sz="2400" dirty="0">
                  <a:latin typeface="Arial MT"/>
                  <a:cs typeface="Arial MT"/>
                </a:endParaRPr>
              </a:p>
              <a:p>
                <a:pPr marL="1450340" lvl="2" indent="-287655">
                  <a:spcBef>
                    <a:spcPts val="770"/>
                  </a:spcBef>
                  <a:buFontTx/>
                  <a:buChar char="•"/>
                  <a:tabLst>
                    <a:tab pos="1450340" algn="l"/>
                  </a:tabLst>
                </a:pPr>
                <a14:m>
                  <m:oMath xmlns:m="http://schemas.openxmlformats.org/officeDocument/2006/math">
                    <m:r>
                      <a:rPr lang="it-IT" sz="2400" i="1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sz="2400" i="1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=20</m:t>
                    </m:r>
                    <m:r>
                      <a:rPr lang="it-IT" sz="2400" b="0" i="0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it-IT" sz="2400" i="1" dirty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i="1" dirty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it-IT" sz="2400" i="0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400" b="0" i="0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it-IT" sz="2400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it-IT" sz="2400" b="0" i="0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40 </m:t>
                    </m:r>
                    <m:r>
                      <m:rPr>
                        <m:sty m:val="p"/>
                      </m:rPr>
                      <a:rPr lang="it-IT" sz="2400" b="0" i="0" dirty="0" smtClean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istanze</m:t>
                    </m:r>
                  </m:oMath>
                </a14:m>
                <a:endParaRPr lang="it-IT" sz="2400" dirty="0">
                  <a:solidFill>
                    <a:srgbClr val="006600"/>
                  </a:solidFill>
                  <a:latin typeface="Arial MT"/>
                  <a:cs typeface="Arial MT"/>
                </a:endParaRPr>
              </a:p>
              <a:p>
                <a:pPr marL="482600" marR="43180" indent="-432434">
                  <a:lnSpc>
                    <a:spcPct val="101400"/>
                  </a:lnSpc>
                  <a:spcBef>
                    <a:spcPts val="980"/>
                  </a:spcBef>
                  <a:buFont typeface="Wingdings"/>
                  <a:buChar char=""/>
                  <a:tabLst>
                    <a:tab pos="482600" algn="l"/>
                    <a:tab pos="1745614" algn="l"/>
                  </a:tabLst>
                </a:pPr>
                <a:r>
                  <a:rPr lang="it-IT" sz="3600" spc="-1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In ciascun gruppo</a:t>
                </a:r>
                <a:endParaRPr lang="it-IT" sz="3600" dirty="0">
                  <a:latin typeface="Arial MT"/>
                  <a:cs typeface="Arial MT"/>
                </a:endParaRP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r>
                  <a:rPr lang="it-IT" sz="28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10 topologie diverse(stessa struttura archi, pesi diversi)</a:t>
                </a: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r>
                  <a:rPr lang="it-IT" sz="28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Per ogni topologia: 4 assegnazioni di (p,c) con intervalli diversi</a:t>
                </a: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r>
                  <a:rPr lang="it-IT" sz="28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Totale per gruppo: 10x4= 40 istanze</a:t>
                </a:r>
                <a:endParaRPr lang="it-IT" sz="2800" dirty="0">
                  <a:latin typeface="Arial MT"/>
                  <a:cs typeface="Arial MT"/>
                </a:endParaRP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endParaRPr sz="3500" dirty="0">
                  <a:latin typeface="Arial MT"/>
                  <a:cs typeface="Arial MT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97" y="1079499"/>
                <a:ext cx="11285855" cy="6779548"/>
              </a:xfrm>
              <a:prstGeom prst="rect">
                <a:avLst/>
              </a:prstGeom>
              <a:blipFill>
                <a:blip r:embed="rId2"/>
                <a:stretch>
                  <a:fillRect l="-1836" t="-242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920BCED-AF54-1B3A-F2FE-DF8068C62ED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17</a:t>
            </a:fld>
            <a:endParaRPr lang="it-IT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3C975-1717-2CD5-BF39-EDD68A804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BC93BC9-BF09-DABC-08DD-F036D8EA63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it-IT" spc="-20" dirty="0"/>
              <a:t>Dataset di t</a:t>
            </a:r>
            <a:r>
              <a:rPr spc="-20" dirty="0"/>
              <a:t>est</a:t>
            </a:r>
            <a:r>
              <a:rPr lang="it-IT" spc="-20" dirty="0"/>
              <a:t>(120 istanze)</a:t>
            </a:r>
            <a:endParaRPr spc="-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8451AE9F-5C20-8A03-2076-EA3C5F4BA2C9}"/>
                  </a:ext>
                </a:extLst>
              </p:cNvPr>
              <p:cNvSpPr txBox="1"/>
              <p:nvPr/>
            </p:nvSpPr>
            <p:spPr>
              <a:xfrm>
                <a:off x="703897" y="1447800"/>
                <a:ext cx="11285855" cy="3835152"/>
              </a:xfrm>
              <a:prstGeom prst="rect">
                <a:avLst/>
              </a:prstGeom>
            </p:spPr>
            <p:txBody>
              <a:bodyPr vert="horz" wrap="square" lIns="0" tIns="7620" rIns="0" bIns="0" rtlCol="0">
                <a:spAutoFit/>
              </a:bodyPr>
              <a:lstStyle/>
              <a:p>
                <a:pPr marL="482600" marR="43180" indent="-432434">
                  <a:lnSpc>
                    <a:spcPct val="101400"/>
                  </a:lnSpc>
                  <a:spcBef>
                    <a:spcPts val="980"/>
                  </a:spcBef>
                  <a:buFont typeface="Wingdings"/>
                  <a:buChar char=""/>
                  <a:tabLst>
                    <a:tab pos="482600" algn="l"/>
                    <a:tab pos="1745614" algn="l"/>
                  </a:tabLst>
                </a:pPr>
                <a:r>
                  <a:rPr lang="it-IT" sz="3600" spc="-10" dirty="0">
                    <a:solidFill>
                      <a:srgbClr val="0000CC"/>
                    </a:solidFill>
                    <a:latin typeface="Arial MT"/>
                    <a:cs typeface="Arial MT"/>
                  </a:rPr>
                  <a:t>Per ogni topologia, si generano 4 varianti assegnando a ogni nodo:</a:t>
                </a:r>
                <a:endParaRPr lang="it-IT" sz="3600" dirty="0">
                  <a:solidFill>
                    <a:srgbClr val="006600"/>
                  </a:solidFill>
                  <a:latin typeface="Arial MT"/>
                  <a:cs typeface="Arial MT"/>
                </a:endParaRP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r>
                  <a:rPr lang="it-IT" sz="28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I1:  𝑝∼𝑈[0.95,1]  𝑐∼𝑈[1,100] </a:t>
                </a: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r>
                  <a:rPr lang="it-IT" sz="28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I2:  𝑝∼𝑈[0.70,1]  𝑐∼𝑈[10,1000] </a:t>
                </a: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r>
                  <a:rPr lang="it-IT" sz="28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I3:  𝑝∼𝑈[0.95,1]  𝑐∼𝑈[10,1000]</a:t>
                </a:r>
              </a:p>
              <a:p>
                <a:pPr marL="984250" marR="629285" lvl="1" indent="-358775" algn="just">
                  <a:lnSpc>
                    <a:spcPct val="100000"/>
                  </a:lnSpc>
                  <a:spcBef>
                    <a:spcPts val="965"/>
                  </a:spcBef>
                  <a:buFont typeface="Wingdings"/>
                  <a:buChar char=""/>
                  <a:tabLst>
                    <a:tab pos="986155" algn="l"/>
                  </a:tabLst>
                </a:pPr>
                <a:r>
                  <a:rPr lang="it-IT" sz="2800" dirty="0">
                    <a:solidFill>
                      <a:srgbClr val="006600"/>
                    </a:solidFill>
                    <a:latin typeface="Arial MT"/>
                    <a:cs typeface="Arial MT"/>
                  </a:rPr>
                  <a:t>I4:  𝑝∼𝑈[0.70,1]  𝑐∼𝑈[1,100] </a:t>
                </a:r>
                <a:endParaRPr lang="it-IT" sz="2800" dirty="0">
                  <a:latin typeface="Arial MT"/>
                  <a:cs typeface="Arial MT"/>
                </a:endParaRPr>
              </a:p>
              <a:p>
                <a:pPr marL="1450340" lvl="2" indent="-287655">
                  <a:spcBef>
                    <a:spcPts val="770"/>
                  </a:spcBef>
                  <a:buFontTx/>
                  <a:buChar char="•"/>
                  <a:tabLst>
                    <a:tab pos="1450340" algn="l"/>
                  </a:tabLst>
                </a:pPr>
                <a14:m>
                  <m:oMath xmlns:m="http://schemas.openxmlformats.org/officeDocument/2006/math">
                    <m:r>
                      <a:rPr lang="it-IT" sz="2600" i="1" dirty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40 = 10 </m:t>
                    </m:r>
                    <m:r>
                      <a:rPr lang="it-IT" sz="2600" i="1" dirty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𝑡𝑜𝑝𝑜𝑙𝑜𝑔𝑖𝑒</m:t>
                    </m:r>
                    <m:r>
                      <a:rPr lang="it-IT" sz="2600" i="1" dirty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 × 4 </m:t>
                    </m:r>
                    <m:r>
                      <a:rPr lang="it-IT" sz="2600" i="1" dirty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𝑖𝑛𝑡𝑒𝑟𝑣𝑎𝑙𝑙𝑖</m:t>
                    </m:r>
                    <m:r>
                      <a:rPr lang="it-IT" sz="2600" i="1" dirty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” </m:t>
                    </m:r>
                    <m:r>
                      <a:rPr lang="it-IT" sz="2600" i="1" dirty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𝑟𝑖𝑝𝑒𝑡𝑢𝑡𝑜</m:t>
                    </m:r>
                    <m:r>
                      <a:rPr lang="it-IT" sz="2600" i="1" dirty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600" i="1" dirty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𝑝𝑒𝑟</m:t>
                    </m:r>
                    <m:r>
                      <a:rPr lang="it-IT" sz="2600" i="1" dirty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600" i="1" dirty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sz="2600" i="1" dirty="0">
                        <a:solidFill>
                          <a:srgbClr val="990033"/>
                        </a:solidFill>
                        <a:latin typeface="Cambria Math" panose="02040503050406030204" pitchFamily="18" charset="0"/>
                      </a:rPr>
                      <m:t>=10/15/20</m:t>
                    </m:r>
                  </m:oMath>
                </a14:m>
                <a:endParaRPr sz="2600" dirty="0">
                  <a:latin typeface="Arial MT"/>
                  <a:cs typeface="Arial MT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8451AE9F-5C20-8A03-2076-EA3C5F4BA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97" y="1447800"/>
                <a:ext cx="11285855" cy="3835152"/>
              </a:xfrm>
              <a:prstGeom prst="rect">
                <a:avLst/>
              </a:prstGeom>
              <a:blipFill>
                <a:blip r:embed="rId2"/>
                <a:stretch>
                  <a:fillRect l="-1836" t="-42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76E8932-9770-D965-FE26-76C1426F46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6709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F8943-16B2-460E-7EB3-7D51D32F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7E569C9-F065-F00C-9145-327FF126A5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it-IT" spc="-10" dirty="0"/>
              <a:t>Esempio grafo primo gruppo(n=10) </a:t>
            </a:r>
            <a:endParaRPr spc="-1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7C68D6B-BF49-AAE7-0724-704CFC67D6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19</a:t>
            </a:fld>
            <a:endParaRPr lang="it-IT" dirty="0"/>
          </a:p>
        </p:txBody>
      </p:sp>
      <p:pic>
        <p:nvPicPr>
          <p:cNvPr id="6" name="Immagine 5" descr="Immagine che contiene testo, diagramma, linea, schermata">
            <a:extLst>
              <a:ext uri="{FF2B5EF4-FFF2-40B4-BE49-F238E27FC236}">
                <a16:creationId xmlns:a16="http://schemas.microsoft.com/office/drawing/2014/main" id="{BD5FEC27-7D65-678B-70D3-72296AF97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552" y="1025569"/>
            <a:ext cx="5494496" cy="598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631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0DCA2-3D40-E07E-4356-3CE02A2C6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62F647B-28BA-DC45-006C-95C83F289B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it-IT" spc="-10" dirty="0"/>
              <a:t>Esempio grafo secondo gruppo(n=15) </a:t>
            </a:r>
            <a:endParaRPr spc="-1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F67BC35-E61A-1AE2-8486-745742E6A6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20</a:t>
            </a:fld>
            <a:endParaRPr lang="it-IT" dirty="0"/>
          </a:p>
        </p:txBody>
      </p:sp>
      <p:pic>
        <p:nvPicPr>
          <p:cNvPr id="8" name="Immagine 7" descr="Immagine che contiene linea, testo, diagramma, schermata">
            <a:extLst>
              <a:ext uri="{FF2B5EF4-FFF2-40B4-BE49-F238E27FC236}">
                <a16:creationId xmlns:a16="http://schemas.microsoft.com/office/drawing/2014/main" id="{604FCA8A-55D1-BE54-8AAF-EF32805DF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988456"/>
            <a:ext cx="10210800" cy="599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97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CB44E-41DC-851A-12A3-DE67BEF2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A1A251-9672-B717-F85A-D4F4C2A2BE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it-IT" spc="-10" dirty="0"/>
              <a:t>Esempio grafo terzo gruppo(n=20) </a:t>
            </a:r>
            <a:endParaRPr spc="-1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8F78EE4-5514-A890-6B56-6E6DCD929A3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21</a:t>
            </a:fld>
            <a:endParaRPr lang="it-IT" dirty="0"/>
          </a:p>
        </p:txBody>
      </p:sp>
      <p:pic>
        <p:nvPicPr>
          <p:cNvPr id="5" name="Immagine 4" descr="Immagine che contiene diagramma, linea, schermata, Parallelo">
            <a:extLst>
              <a:ext uri="{FF2B5EF4-FFF2-40B4-BE49-F238E27FC236}">
                <a16:creationId xmlns:a16="http://schemas.microsoft.com/office/drawing/2014/main" id="{015BDEB8-3965-E60E-D389-9335AABF0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" t="6930" r="1494" b="9030"/>
          <a:stretch>
            <a:fillRect/>
          </a:stretch>
        </p:blipFill>
        <p:spPr>
          <a:xfrm>
            <a:off x="1485900" y="990600"/>
            <a:ext cx="9829800" cy="609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93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it-IT" dirty="0"/>
              <a:t>Risultati(1)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57872" y="1600200"/>
            <a:ext cx="11285855" cy="3444661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82600" marR="43180" indent="-432434">
              <a:lnSpc>
                <a:spcPct val="101400"/>
              </a:lnSpc>
              <a:spcBef>
                <a:spcPts val="980"/>
              </a:spcBef>
              <a:buFont typeface="Wingdings"/>
              <a:buChar char=""/>
              <a:tabLst>
                <a:tab pos="482600" algn="l"/>
                <a:tab pos="1745614" algn="l"/>
              </a:tabLst>
            </a:pPr>
            <a:r>
              <a:rPr lang="it-IT" sz="3600" spc="-10" dirty="0">
                <a:solidFill>
                  <a:srgbClr val="0000CC"/>
                </a:solidFill>
                <a:latin typeface="Arial MT"/>
                <a:cs typeface="Arial MT"/>
              </a:rPr>
              <a:t>Greedy2 domina Greedy1</a:t>
            </a:r>
            <a:endParaRPr lang="it-IT" sz="3600" dirty="0">
              <a:latin typeface="Arial MT"/>
              <a:cs typeface="Arial MT"/>
            </a:endParaRP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200" dirty="0">
                <a:solidFill>
                  <a:srgbClr val="006600"/>
                </a:solidFill>
                <a:latin typeface="Arial MT"/>
                <a:cs typeface="Arial MT"/>
              </a:rPr>
              <a:t>Miglioramento di ~3.6% in media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200" dirty="0">
                <a:solidFill>
                  <a:srgbClr val="006600"/>
                </a:solidFill>
                <a:latin typeface="Arial MT"/>
                <a:cs typeface="Arial MT"/>
              </a:rPr>
              <a:t>L’effetto cresce con N (circa -1.7% a N=10 → -4.9% a N=20)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endParaRPr lang="it-IT" sz="3200" dirty="0">
              <a:solidFill>
                <a:srgbClr val="006600"/>
              </a:solidFill>
              <a:latin typeface="Arial MT"/>
              <a:cs typeface="Arial MT"/>
            </a:endParaRPr>
          </a:p>
          <a:p>
            <a:pPr marL="482600" marR="36830" indent="-432434">
              <a:lnSpc>
                <a:spcPct val="101400"/>
              </a:lnSpc>
              <a:spcBef>
                <a:spcPts val="60"/>
              </a:spcBef>
              <a:buFont typeface="Wingdings"/>
              <a:buChar char=""/>
              <a:tabLst>
                <a:tab pos="482600" algn="l"/>
                <a:tab pos="1152525" algn="l"/>
                <a:tab pos="10369550" algn="l"/>
              </a:tabLst>
            </a:pPr>
            <a:endParaRPr sz="3500" dirty="0">
              <a:latin typeface="Arial MT"/>
              <a:cs typeface="Arial MT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44D75DE-DA37-A53C-E83F-A9D0C0D426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22</a:t>
            </a:fld>
            <a:endParaRPr lang="it-IT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79C45-8E18-3A0F-D1C9-18407ECE1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DCCE67A-0C8A-B6CD-0D3E-5C0D3ECF87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it-IT" dirty="0"/>
              <a:t>Risultati(2)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CE1749D-FC30-1C8E-7CD2-F7C15EA61402}"/>
              </a:ext>
            </a:extLst>
          </p:cNvPr>
          <p:cNvSpPr txBox="1"/>
          <p:nvPr/>
        </p:nvSpPr>
        <p:spPr>
          <a:xfrm>
            <a:off x="640079" y="1600200"/>
            <a:ext cx="11521442" cy="1649682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82600" marR="43180" indent="-432434">
              <a:lnSpc>
                <a:spcPct val="101400"/>
              </a:lnSpc>
              <a:spcBef>
                <a:spcPts val="980"/>
              </a:spcBef>
              <a:buFont typeface="Wingdings"/>
              <a:buChar char=""/>
              <a:tabLst>
                <a:tab pos="482600" algn="l"/>
                <a:tab pos="1745614" algn="l"/>
              </a:tabLst>
            </a:pPr>
            <a:r>
              <a:rPr lang="it-IT" sz="3600" spc="-10" dirty="0">
                <a:solidFill>
                  <a:srgbClr val="0000CC"/>
                </a:solidFill>
                <a:latin typeface="Arial MT"/>
                <a:cs typeface="Arial MT"/>
              </a:rPr>
              <a:t>SA è quasi sempre la soluzione migliore, soprattutto nell’intervallo</a:t>
            </a:r>
            <a:endParaRPr lang="it-IT" sz="3200" dirty="0">
              <a:solidFill>
                <a:srgbClr val="006600"/>
              </a:solidFill>
              <a:latin typeface="Arial MT"/>
              <a:cs typeface="Arial MT"/>
            </a:endParaRPr>
          </a:p>
          <a:p>
            <a:pPr marL="482600" marR="36830" indent="-432434">
              <a:lnSpc>
                <a:spcPct val="101400"/>
              </a:lnSpc>
              <a:spcBef>
                <a:spcPts val="60"/>
              </a:spcBef>
              <a:buFont typeface="Wingdings"/>
              <a:buChar char=""/>
              <a:tabLst>
                <a:tab pos="482600" algn="l"/>
                <a:tab pos="1152525" algn="l"/>
                <a:tab pos="10369550" algn="l"/>
              </a:tabLst>
            </a:pPr>
            <a:endParaRPr sz="3500" dirty="0">
              <a:latin typeface="Arial MT"/>
              <a:cs typeface="Arial MT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BBB2A0D-F526-AD2F-5096-E193B6F760B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23</a:t>
            </a:fld>
            <a:endParaRPr lang="it-IT" dirty="0"/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B4517BBD-916D-90D6-6555-F06892302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762958"/>
              </p:ext>
            </p:extLst>
          </p:nvPr>
        </p:nvGraphicFramePr>
        <p:xfrm>
          <a:off x="2057400" y="3019950"/>
          <a:ext cx="8160543" cy="1828800"/>
        </p:xfrm>
        <a:graphic>
          <a:graphicData uri="http://schemas.openxmlformats.org/drawingml/2006/table">
            <a:tbl>
              <a:tblPr/>
              <a:tblGrid>
                <a:gridCol w="2720181">
                  <a:extLst>
                    <a:ext uri="{9D8B030D-6E8A-4147-A177-3AD203B41FA5}">
                      <a16:colId xmlns:a16="http://schemas.microsoft.com/office/drawing/2014/main" val="4162135055"/>
                    </a:ext>
                  </a:extLst>
                </a:gridCol>
                <a:gridCol w="2720181">
                  <a:extLst>
                    <a:ext uri="{9D8B030D-6E8A-4147-A177-3AD203B41FA5}">
                      <a16:colId xmlns:a16="http://schemas.microsoft.com/office/drawing/2014/main" val="3225072266"/>
                    </a:ext>
                  </a:extLst>
                </a:gridCol>
                <a:gridCol w="2720181">
                  <a:extLst>
                    <a:ext uri="{9D8B030D-6E8A-4147-A177-3AD203B41FA5}">
                      <a16:colId xmlns:a16="http://schemas.microsoft.com/office/drawing/2014/main" val="8083047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Intervallo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SA vs Greedy2 (media)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SA vs Greedy1 (media)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153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I1</a:t>
                      </a:r>
                      <a:r>
                        <a:rPr lang="it-IT" dirty="0"/>
                        <a:t> (p alte, costi bassi)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~0%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-0.6%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410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I2</a:t>
                      </a:r>
                      <a:r>
                        <a:rPr lang="it-IT" dirty="0"/>
                        <a:t> (p 0.7–1, costi 10–1000)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b="1" dirty="0"/>
                        <a:t>-4.16%</a:t>
                      </a:r>
                      <a:endParaRPr lang="it-IT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b="1" dirty="0"/>
                        <a:t>-9.68%</a:t>
                      </a:r>
                      <a:endParaRPr lang="it-IT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267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I3</a:t>
                      </a:r>
                      <a:r>
                        <a:rPr lang="it-IT" dirty="0"/>
                        <a:t> (p alte, costi alti)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-0.48%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-1.0%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9160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I4</a:t>
                      </a:r>
                      <a:r>
                        <a:rPr lang="it-IT" dirty="0"/>
                        <a:t> (p 0.7–1, costi 1–100)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-1.02%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-8.69%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763897"/>
                  </a:ext>
                </a:extLst>
              </a:tr>
            </a:tbl>
          </a:graphicData>
        </a:graphic>
      </p:graphicFrame>
      <p:sp>
        <p:nvSpPr>
          <p:cNvPr id="6" name="object 3">
            <a:extLst>
              <a:ext uri="{FF2B5EF4-FFF2-40B4-BE49-F238E27FC236}">
                <a16:creationId xmlns:a16="http://schemas.microsoft.com/office/drawing/2014/main" id="{D9370FF2-E8E6-9DF3-7AF2-FFA0B4155AB7}"/>
              </a:ext>
            </a:extLst>
          </p:cNvPr>
          <p:cNvSpPr txBox="1"/>
          <p:nvPr/>
        </p:nvSpPr>
        <p:spPr>
          <a:xfrm>
            <a:off x="606909" y="5153454"/>
            <a:ext cx="11661292" cy="225420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2800" dirty="0">
                <a:solidFill>
                  <a:srgbClr val="006600"/>
                </a:solidFill>
                <a:latin typeface="Arial MT"/>
                <a:cs typeface="Arial MT"/>
              </a:rPr>
              <a:t>Possibile interpretazione: quando molte probabilità non sono vicinissime a 1 (I2/I4) e/o i costi sono grandi e variabili (I2), la scelta dell’ordine impatta molto il costo atteso → il simulated annealing si rivela molto efficace</a:t>
            </a:r>
          </a:p>
          <a:p>
            <a:pPr marL="482600" marR="36830" indent="-432434">
              <a:lnSpc>
                <a:spcPct val="101400"/>
              </a:lnSpc>
              <a:spcBef>
                <a:spcPts val="60"/>
              </a:spcBef>
              <a:buFont typeface="Wingdings"/>
              <a:buChar char=""/>
              <a:tabLst>
                <a:tab pos="482600" algn="l"/>
                <a:tab pos="1152525" algn="l"/>
                <a:tab pos="10369550" algn="l"/>
              </a:tabLst>
            </a:pPr>
            <a:endParaRPr sz="35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927453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44216-DA67-E3E8-8477-C2E89351B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AF94A6B-96F9-6FF2-9BAD-D74EBBCDDF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it-IT" dirty="0"/>
              <a:t>Risultati(3)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002AD66-01B8-FDF9-4161-96BAEDF0E9D3}"/>
              </a:ext>
            </a:extLst>
          </p:cNvPr>
          <p:cNvSpPr txBox="1"/>
          <p:nvPr/>
        </p:nvSpPr>
        <p:spPr>
          <a:xfrm>
            <a:off x="757872" y="1600200"/>
            <a:ext cx="11285855" cy="109017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82600" marR="43180" indent="-432434">
              <a:lnSpc>
                <a:spcPct val="101400"/>
              </a:lnSpc>
              <a:spcBef>
                <a:spcPts val="980"/>
              </a:spcBef>
              <a:buFont typeface="Wingdings"/>
              <a:buChar char=""/>
              <a:tabLst>
                <a:tab pos="482600" algn="l"/>
                <a:tab pos="1745614" algn="l"/>
              </a:tabLst>
            </a:pPr>
            <a:r>
              <a:rPr lang="it-IT" sz="3600" spc="-10" dirty="0">
                <a:solidFill>
                  <a:srgbClr val="0000CC"/>
                </a:solidFill>
                <a:latin typeface="Arial MT"/>
                <a:cs typeface="Arial MT"/>
              </a:rPr>
              <a:t>Su N=10: SA è praticamente ottimo</a:t>
            </a:r>
            <a:endParaRPr lang="it-IT" sz="3200" dirty="0">
              <a:solidFill>
                <a:srgbClr val="006600"/>
              </a:solidFill>
              <a:latin typeface="Arial MT"/>
              <a:cs typeface="Arial MT"/>
            </a:endParaRPr>
          </a:p>
          <a:p>
            <a:pPr marL="482600" marR="36830" indent="-432434">
              <a:lnSpc>
                <a:spcPct val="101400"/>
              </a:lnSpc>
              <a:spcBef>
                <a:spcPts val="60"/>
              </a:spcBef>
              <a:buFont typeface="Wingdings"/>
              <a:buChar char=""/>
              <a:tabLst>
                <a:tab pos="482600" algn="l"/>
                <a:tab pos="1152525" algn="l"/>
                <a:tab pos="10369550" algn="l"/>
              </a:tabLst>
            </a:pPr>
            <a:endParaRPr sz="3500" dirty="0">
              <a:latin typeface="Arial MT"/>
              <a:cs typeface="Arial MT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C3BD2A-E8F6-7051-7DCF-190ECD8F3F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24</a:t>
            </a:fld>
            <a:endParaRPr lang="it-IT" dirty="0"/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86229F90-CA57-F6C6-859A-49C28AB01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357569"/>
              </p:ext>
            </p:extLst>
          </p:nvPr>
        </p:nvGraphicFramePr>
        <p:xfrm>
          <a:off x="1027655" y="3374838"/>
          <a:ext cx="10880724" cy="1463040"/>
        </p:xfrm>
        <a:graphic>
          <a:graphicData uri="http://schemas.openxmlformats.org/drawingml/2006/table">
            <a:tbl>
              <a:tblPr/>
              <a:tblGrid>
                <a:gridCol w="3626908">
                  <a:extLst>
                    <a:ext uri="{9D8B030D-6E8A-4147-A177-3AD203B41FA5}">
                      <a16:colId xmlns:a16="http://schemas.microsoft.com/office/drawing/2014/main" val="1083620048"/>
                    </a:ext>
                  </a:extLst>
                </a:gridCol>
                <a:gridCol w="3626908">
                  <a:extLst>
                    <a:ext uri="{9D8B030D-6E8A-4147-A177-3AD203B41FA5}">
                      <a16:colId xmlns:a16="http://schemas.microsoft.com/office/drawing/2014/main" val="2104750293"/>
                    </a:ext>
                  </a:extLst>
                </a:gridCol>
                <a:gridCol w="3626908">
                  <a:extLst>
                    <a:ext uri="{9D8B030D-6E8A-4147-A177-3AD203B41FA5}">
                      <a16:colId xmlns:a16="http://schemas.microsoft.com/office/drawing/2014/main" val="10431504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Algoritmo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Gap medio vs OPT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% volte esattamente OPT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687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Greedy1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+2.56%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15%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70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Greedy2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+0.69%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dirty="0"/>
                        <a:t>65%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072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SA</a:t>
                      </a:r>
                      <a:endParaRPr lang="it-IT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b="1" dirty="0"/>
                        <a:t>+0.0067%</a:t>
                      </a:r>
                      <a:endParaRPr lang="it-IT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b="1" dirty="0"/>
                        <a:t>92.5%</a:t>
                      </a:r>
                      <a:endParaRPr lang="it-IT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782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210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69ECC-F7EF-E7C4-BD6C-E81C1C60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F96DAA7-A26A-B459-DD46-4058B959EA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it-IT" dirty="0"/>
              <a:t>Risultati(4)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F3A25EF-6A1B-0A33-63FF-4940C0733FC6}"/>
              </a:ext>
            </a:extLst>
          </p:cNvPr>
          <p:cNvSpPr txBox="1"/>
          <p:nvPr/>
        </p:nvSpPr>
        <p:spPr>
          <a:xfrm>
            <a:off x="757872" y="1600200"/>
            <a:ext cx="11285855" cy="3449791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82600" marR="43180" indent="-432434">
              <a:lnSpc>
                <a:spcPct val="101400"/>
              </a:lnSpc>
              <a:spcBef>
                <a:spcPts val="980"/>
              </a:spcBef>
              <a:buFont typeface="Wingdings"/>
              <a:buChar char=""/>
              <a:tabLst>
                <a:tab pos="482600" algn="l"/>
                <a:tab pos="1745614" algn="l"/>
              </a:tabLst>
            </a:pPr>
            <a:r>
              <a:rPr lang="it-IT" sz="3600" spc="-10" dirty="0">
                <a:solidFill>
                  <a:srgbClr val="0000CC"/>
                </a:solidFill>
                <a:latin typeface="Arial MT"/>
                <a:cs typeface="Arial MT"/>
              </a:rPr>
              <a:t>SA è molto più lento dei greedy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2800" dirty="0">
                <a:solidFill>
                  <a:srgbClr val="006600"/>
                </a:solidFill>
                <a:latin typeface="Arial MT"/>
                <a:cs typeface="Arial MT"/>
              </a:rPr>
              <a:t>Tempi medi Greedy: ~0.05–0.08 ms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2800" dirty="0">
                <a:solidFill>
                  <a:srgbClr val="006600"/>
                </a:solidFill>
                <a:latin typeface="Arial MT"/>
                <a:cs typeface="Arial MT"/>
              </a:rPr>
              <a:t>Tempi medi SA: ~83 ms (N10)| 99 ms (N15) 119 ms (N20)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endParaRPr lang="it-IT" sz="3200" dirty="0">
              <a:solidFill>
                <a:srgbClr val="006600"/>
              </a:solidFill>
              <a:latin typeface="Arial MT"/>
              <a:cs typeface="Arial MT"/>
            </a:endParaRP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endParaRPr lang="it-IT" sz="3200" dirty="0">
              <a:solidFill>
                <a:srgbClr val="006600"/>
              </a:solidFill>
              <a:latin typeface="Arial MT"/>
              <a:cs typeface="Arial MT"/>
            </a:endParaRPr>
          </a:p>
          <a:p>
            <a:pPr marL="482600" marR="36830" indent="-432434">
              <a:lnSpc>
                <a:spcPct val="101400"/>
              </a:lnSpc>
              <a:spcBef>
                <a:spcPts val="60"/>
              </a:spcBef>
              <a:buFont typeface="Wingdings"/>
              <a:buChar char=""/>
              <a:tabLst>
                <a:tab pos="482600" algn="l"/>
                <a:tab pos="1152525" algn="l"/>
                <a:tab pos="10369550" algn="l"/>
              </a:tabLst>
            </a:pPr>
            <a:endParaRPr sz="3500" dirty="0">
              <a:latin typeface="Arial MT"/>
              <a:cs typeface="Arial MT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B63FF8D-DD54-1F19-19A3-6F6330278A6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25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7543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E78AB-603B-7523-AD97-B1DD07488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3459BC-C481-AAA7-D02F-C9AD30F984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it-IT" dirty="0"/>
              <a:t>Risultati(5)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F88BCED-CAA0-69DE-1579-A5239E9D47D0}"/>
              </a:ext>
            </a:extLst>
          </p:cNvPr>
          <p:cNvSpPr txBox="1"/>
          <p:nvPr/>
        </p:nvSpPr>
        <p:spPr>
          <a:xfrm>
            <a:off x="757872" y="1600200"/>
            <a:ext cx="11285855" cy="6851106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82600" marR="43180" indent="-432434">
              <a:lnSpc>
                <a:spcPct val="101400"/>
              </a:lnSpc>
              <a:spcBef>
                <a:spcPts val="980"/>
              </a:spcBef>
              <a:buFont typeface="Wingdings"/>
              <a:buChar char=""/>
              <a:tabLst>
                <a:tab pos="482600" algn="l"/>
                <a:tab pos="1745614" algn="l"/>
              </a:tabLst>
            </a:pPr>
            <a:r>
              <a:rPr lang="it-IT" sz="3600" spc="-10" dirty="0">
                <a:solidFill>
                  <a:srgbClr val="0000CC"/>
                </a:solidFill>
                <a:latin typeface="Arial MT"/>
                <a:cs typeface="Arial MT"/>
              </a:rPr>
              <a:t>SA spesso trova il valore che restituirà come valore finale abbastanza presto</a:t>
            </a:r>
            <a:endParaRPr lang="it-IT" sz="3600" dirty="0">
              <a:latin typeface="Arial MT"/>
              <a:cs typeface="Arial MT"/>
            </a:endParaRP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200" dirty="0">
                <a:solidFill>
                  <a:srgbClr val="006600"/>
                </a:solidFill>
                <a:latin typeface="Arial MT"/>
                <a:cs typeface="Arial MT"/>
              </a:rPr>
              <a:t>Dalla colonna </a:t>
            </a:r>
            <a:r>
              <a:rPr lang="it-IT" sz="3200" i="1" dirty="0">
                <a:solidFill>
                  <a:srgbClr val="006600"/>
                </a:solidFill>
                <a:latin typeface="Arial MT"/>
                <a:cs typeface="Arial MT"/>
              </a:rPr>
              <a:t>sa_time_to_final_best_frac</a:t>
            </a:r>
            <a:r>
              <a:rPr lang="it-IT" sz="3200" dirty="0">
                <a:solidFill>
                  <a:srgbClr val="006600"/>
                </a:solidFill>
                <a:latin typeface="Arial MT"/>
                <a:cs typeface="Arial MT"/>
              </a:rPr>
              <a:t>: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200" dirty="0">
                <a:solidFill>
                  <a:srgbClr val="006600"/>
                </a:solidFill>
                <a:latin typeface="Arial MT"/>
                <a:cs typeface="Arial MT"/>
              </a:rPr>
              <a:t>mediana ≈ 0.38 → in metà casi il best finale arriva entro il 38% del tempo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200" dirty="0">
                <a:solidFill>
                  <a:srgbClr val="006600"/>
                </a:solidFill>
                <a:latin typeface="Arial MT"/>
                <a:cs typeface="Arial MT"/>
              </a:rPr>
              <a:t>primo quartile ≈ 0.07 → in un 25% dei casi arriva entro il 7%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200" dirty="0">
                <a:solidFill>
                  <a:srgbClr val="006600"/>
                </a:solidFill>
                <a:latin typeface="Arial MT"/>
                <a:cs typeface="Arial MT"/>
              </a:rPr>
              <a:t>Questo è utile per motivare early stopping o budget time-based.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endParaRPr lang="it-IT" sz="3200" dirty="0">
              <a:solidFill>
                <a:srgbClr val="006600"/>
              </a:solidFill>
              <a:latin typeface="Arial MT"/>
              <a:cs typeface="Arial MT"/>
            </a:endParaRP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endParaRPr lang="it-IT" sz="3200" dirty="0">
              <a:solidFill>
                <a:srgbClr val="006600"/>
              </a:solidFill>
              <a:latin typeface="Arial MT"/>
              <a:cs typeface="Arial MT"/>
            </a:endParaRPr>
          </a:p>
          <a:p>
            <a:pPr marL="482600" marR="36830" indent="-432434">
              <a:lnSpc>
                <a:spcPct val="101400"/>
              </a:lnSpc>
              <a:spcBef>
                <a:spcPts val="60"/>
              </a:spcBef>
              <a:buFont typeface="Wingdings"/>
              <a:buChar char=""/>
              <a:tabLst>
                <a:tab pos="482600" algn="l"/>
                <a:tab pos="1152525" algn="l"/>
                <a:tab pos="10369550" algn="l"/>
              </a:tabLst>
            </a:pPr>
            <a:endParaRPr sz="3500" dirty="0">
              <a:latin typeface="Arial MT"/>
              <a:cs typeface="Arial MT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5970BE2-4AEC-CF1B-0365-321962AAC8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26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78228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DCD2E-6D4D-7DC7-7916-8E4EFC9FE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2D57F85-7F2A-53C6-B5DB-B6A661E4B4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it-IT" spc="20" dirty="0"/>
              <a:t>I</a:t>
            </a:r>
            <a:r>
              <a:rPr dirty="0"/>
              <a:t>dee</a:t>
            </a:r>
            <a:r>
              <a:rPr spc="25" dirty="0"/>
              <a:t> </a:t>
            </a:r>
            <a:r>
              <a:rPr dirty="0"/>
              <a:t>per</a:t>
            </a:r>
            <a:r>
              <a:rPr spc="55" dirty="0"/>
              <a:t> </a:t>
            </a:r>
            <a:r>
              <a:rPr dirty="0"/>
              <a:t>sviluppi</a:t>
            </a:r>
            <a:r>
              <a:rPr spc="60" dirty="0"/>
              <a:t> </a:t>
            </a:r>
            <a:r>
              <a:rPr spc="-10" dirty="0"/>
              <a:t>futuri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81F31CA-074A-B24B-4F82-2473AF2D5F50}"/>
              </a:ext>
            </a:extLst>
          </p:cNvPr>
          <p:cNvSpPr txBox="1"/>
          <p:nvPr/>
        </p:nvSpPr>
        <p:spPr>
          <a:xfrm>
            <a:off x="703897" y="1079499"/>
            <a:ext cx="11285855" cy="5471498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82600" marR="43180" indent="-432434">
              <a:lnSpc>
                <a:spcPct val="101400"/>
              </a:lnSpc>
              <a:spcBef>
                <a:spcPts val="980"/>
              </a:spcBef>
              <a:buFont typeface="Wingdings"/>
              <a:buChar char=""/>
              <a:tabLst>
                <a:tab pos="482600" algn="l"/>
                <a:tab pos="1745614" algn="l"/>
              </a:tabLst>
            </a:pPr>
            <a:r>
              <a:rPr lang="it-IT" sz="3600" spc="-10" dirty="0">
                <a:solidFill>
                  <a:srgbClr val="0000CC"/>
                </a:solidFill>
                <a:latin typeface="Arial MT"/>
                <a:cs typeface="Arial MT"/>
              </a:rPr>
              <a:t>Migliorare la ricerca</a:t>
            </a:r>
            <a:endParaRPr sz="3600" dirty="0">
              <a:latin typeface="Arial MT"/>
              <a:cs typeface="Arial MT"/>
            </a:endParaRP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200" dirty="0">
                <a:solidFill>
                  <a:srgbClr val="006600"/>
                </a:solidFill>
                <a:latin typeface="Arial MT"/>
                <a:cs typeface="Arial MT"/>
              </a:rPr>
              <a:t>Mosse più ricche dello swap: aggiungere la mossa di insert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200" dirty="0">
                <a:solidFill>
                  <a:srgbClr val="006600"/>
                </a:solidFill>
                <a:latin typeface="Arial MT"/>
                <a:cs typeface="Arial MT"/>
              </a:rPr>
              <a:t>Multi-start SA / restart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200" dirty="0">
                <a:solidFill>
                  <a:srgbClr val="006600"/>
                </a:solidFill>
                <a:latin typeface="Arial MT"/>
                <a:cs typeface="Arial MT"/>
              </a:rPr>
              <a:t>Tabu Search(+ altre infinite metaeuristiche…)</a:t>
            </a:r>
          </a:p>
          <a:p>
            <a:pPr marL="482600" marR="43180" indent="-432434">
              <a:lnSpc>
                <a:spcPct val="101400"/>
              </a:lnSpc>
              <a:spcBef>
                <a:spcPts val="980"/>
              </a:spcBef>
              <a:buFont typeface="Wingdings"/>
              <a:buChar char=""/>
              <a:tabLst>
                <a:tab pos="482600" algn="l"/>
                <a:tab pos="1745614" algn="l"/>
              </a:tabLst>
            </a:pPr>
            <a:r>
              <a:rPr lang="it-IT" sz="3600" spc="-10" dirty="0">
                <a:solidFill>
                  <a:srgbClr val="0000CC"/>
                </a:solidFill>
                <a:latin typeface="Arial MT"/>
                <a:cs typeface="Arial MT"/>
              </a:rPr>
              <a:t>Modello più realistico</a:t>
            </a:r>
            <a:endParaRPr lang="it-IT" sz="3600" dirty="0">
              <a:latin typeface="Arial MT"/>
              <a:cs typeface="Arial MT"/>
            </a:endParaRP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200" dirty="0">
                <a:solidFill>
                  <a:srgbClr val="006600"/>
                </a:solidFill>
                <a:latin typeface="Arial MT"/>
                <a:cs typeface="Arial MT"/>
              </a:rPr>
              <a:t>Probabilità dipendenti/condizionate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200" dirty="0">
                <a:solidFill>
                  <a:srgbClr val="006600"/>
                </a:solidFill>
                <a:latin typeface="Arial MT"/>
                <a:cs typeface="Arial MT"/>
              </a:rPr>
              <a:t>Stop non al primo fallimento (k-out-of-n, soglie, ecc.)</a:t>
            </a:r>
          </a:p>
          <a:p>
            <a:pPr marL="984250" marR="629285" lvl="1" indent="-358775" algn="just">
              <a:lnSpc>
                <a:spcPct val="100000"/>
              </a:lnSpc>
              <a:spcBef>
                <a:spcPts val="965"/>
              </a:spcBef>
              <a:buFont typeface="Wingdings"/>
              <a:buChar char=""/>
              <a:tabLst>
                <a:tab pos="986155" algn="l"/>
              </a:tabLst>
            </a:pPr>
            <a:r>
              <a:rPr lang="it-IT" sz="3200" dirty="0">
                <a:solidFill>
                  <a:srgbClr val="006600"/>
                </a:solidFill>
                <a:latin typeface="Arial MT"/>
                <a:cs typeface="Arial MT"/>
              </a:rPr>
              <a:t>Vincoli aggiuntivi (es. finestre temporali)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AD7351C-C16D-9A0A-8EAB-280D1E3F3E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27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062622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11860">
              <a:lnSpc>
                <a:spcPct val="100000"/>
              </a:lnSpc>
              <a:spcBef>
                <a:spcPts val="130"/>
              </a:spcBef>
            </a:pPr>
            <a:r>
              <a:rPr dirty="0"/>
              <a:t>Bibliography</a:t>
            </a:r>
            <a:r>
              <a:rPr spc="-65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dirty="0"/>
              <a:t>further</a:t>
            </a:r>
            <a:r>
              <a:rPr spc="-20" dirty="0"/>
              <a:t> </a:t>
            </a:r>
            <a:r>
              <a:rPr spc="-10" dirty="0"/>
              <a:t>readings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7235" y="1143000"/>
            <a:ext cx="11159490" cy="4342856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444500" marR="677545" indent="-432434">
              <a:lnSpc>
                <a:spcPct val="80400"/>
              </a:lnSpc>
              <a:spcBef>
                <a:spcPts val="850"/>
              </a:spcBef>
              <a:buFont typeface="Wingdings"/>
              <a:buChar char=""/>
              <a:tabLst>
                <a:tab pos="444500" algn="l"/>
              </a:tabLst>
            </a:pPr>
            <a:r>
              <a:rPr lang="it-IT" sz="3500" dirty="0">
                <a:solidFill>
                  <a:srgbClr val="0000CC"/>
                </a:solidFill>
                <a:latin typeface="Arial MT"/>
                <a:cs typeface="Arial MT"/>
              </a:rPr>
              <a:t>[Ben-Ameur</a:t>
            </a:r>
            <a:r>
              <a:rPr lang="it-IT" sz="3500" spc="-120" dirty="0">
                <a:solidFill>
                  <a:srgbClr val="0000CC"/>
                </a:solidFill>
                <a:latin typeface="Arial MT"/>
                <a:cs typeface="Arial MT"/>
              </a:rPr>
              <a:t> 04</a:t>
            </a:r>
            <a:r>
              <a:rPr lang="it-IT" sz="3500" dirty="0">
                <a:solidFill>
                  <a:srgbClr val="0000CC"/>
                </a:solidFill>
                <a:latin typeface="Arial MT"/>
                <a:cs typeface="Arial MT"/>
              </a:rPr>
              <a:t>]</a:t>
            </a:r>
            <a:r>
              <a:rPr lang="it-IT" sz="3500" spc="-8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lang="it-IT" sz="3500" spc="-10" dirty="0">
                <a:solidFill>
                  <a:srgbClr val="0000CC"/>
                </a:solidFill>
                <a:latin typeface="Arial MT"/>
                <a:cs typeface="Arial MT"/>
              </a:rPr>
              <a:t>W. Ben-Ameur </a:t>
            </a:r>
            <a:r>
              <a:rPr lang="it-IT" sz="3500" dirty="0">
                <a:solidFill>
                  <a:srgbClr val="0000CC"/>
                </a:solidFill>
                <a:latin typeface="Arial MT"/>
                <a:cs typeface="Arial MT"/>
              </a:rPr>
              <a:t>“Computing the Initial Temperature of Simulated Annealing”.</a:t>
            </a:r>
            <a:r>
              <a:rPr lang="it-IT" sz="3500" spc="-90" dirty="0">
                <a:solidFill>
                  <a:srgbClr val="0000CC"/>
                </a:solidFill>
                <a:latin typeface="Arial MT"/>
                <a:cs typeface="Arial MT"/>
              </a:rPr>
              <a:t> </a:t>
            </a:r>
            <a:r>
              <a:rPr lang="en-US" sz="3500" spc="-20" dirty="0">
                <a:solidFill>
                  <a:srgbClr val="0000CC"/>
                </a:solidFill>
                <a:latin typeface="Arial MT"/>
                <a:cs typeface="Arial MT"/>
              </a:rPr>
              <a:t>Computational Optimization and Applications, 29, 369–385, 2004</a:t>
            </a:r>
          </a:p>
          <a:p>
            <a:pPr marL="444500" marR="677545" indent="-432434">
              <a:lnSpc>
                <a:spcPct val="80400"/>
              </a:lnSpc>
              <a:spcBef>
                <a:spcPts val="850"/>
              </a:spcBef>
              <a:buFont typeface="Wingdings"/>
              <a:buChar char=""/>
              <a:tabLst>
                <a:tab pos="444500" algn="l"/>
              </a:tabLst>
            </a:pPr>
            <a:r>
              <a:rPr lang="en-US" sz="3500" spc="-20" dirty="0">
                <a:solidFill>
                  <a:srgbClr val="0000CC"/>
                </a:solidFill>
                <a:latin typeface="Arial MT"/>
                <a:cs typeface="Arial MT"/>
              </a:rPr>
              <a:t>[Berend et al. 14] Optimal ordering of independent tests with precedence constraints, Discrete Applied Mathematics, 2014</a:t>
            </a:r>
          </a:p>
          <a:p>
            <a:pPr marL="444500" marR="677545" indent="-432434">
              <a:lnSpc>
                <a:spcPct val="80400"/>
              </a:lnSpc>
              <a:spcBef>
                <a:spcPts val="850"/>
              </a:spcBef>
              <a:buFont typeface="Wingdings"/>
              <a:buChar char=""/>
              <a:tabLst>
                <a:tab pos="444500" algn="l"/>
              </a:tabLst>
            </a:pPr>
            <a:endParaRPr lang="it-IT" sz="3500" dirty="0">
              <a:latin typeface="Arial MT"/>
              <a:cs typeface="Arial MT"/>
            </a:endParaRPr>
          </a:p>
          <a:p>
            <a:pPr marL="444500" marR="677545" indent="-432434">
              <a:lnSpc>
                <a:spcPct val="80400"/>
              </a:lnSpc>
              <a:spcBef>
                <a:spcPts val="850"/>
              </a:spcBef>
              <a:buFont typeface="Wingdings"/>
              <a:buChar char=""/>
              <a:tabLst>
                <a:tab pos="444500" algn="l"/>
              </a:tabLst>
            </a:pPr>
            <a:endParaRPr lang="it-IT" sz="3500" dirty="0">
              <a:solidFill>
                <a:srgbClr val="002060"/>
              </a:solidFill>
              <a:latin typeface="Arial MT"/>
              <a:cs typeface="Arial MT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85BCDD2-B36F-5903-03BC-BDA927E185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it-IT" smtClean="0"/>
              <a:t>28</a:t>
            </a:fld>
            <a:endParaRPr lang="it-IT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1863</TotalTime>
  <Words>1445</Words>
  <Application>Microsoft Office PowerPoint</Application>
  <PresentationFormat>Personalizzato</PresentationFormat>
  <Paragraphs>218</Paragraphs>
  <Slides>28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28</vt:i4>
      </vt:variant>
    </vt:vector>
  </HeadingPairs>
  <TitlesOfParts>
    <vt:vector size="35" baseType="lpstr">
      <vt:lpstr>Aptos</vt:lpstr>
      <vt:lpstr>Arial</vt:lpstr>
      <vt:lpstr>Arial MT</vt:lpstr>
      <vt:lpstr>Calibri</vt:lpstr>
      <vt:lpstr>Cambria Math</vt:lpstr>
      <vt:lpstr>Wingdings</vt:lpstr>
      <vt:lpstr>Office Theme</vt:lpstr>
      <vt:lpstr>Sequential Testing Problem</vt:lpstr>
      <vt:lpstr>Overview</vt:lpstr>
      <vt:lpstr>Descrizione problema</vt:lpstr>
      <vt:lpstr>Applicazioni sequential testing</vt:lpstr>
      <vt:lpstr>Funzione obiettivo: costo atteso</vt:lpstr>
      <vt:lpstr>Esempio </vt:lpstr>
      <vt:lpstr>Complessità(perché servono euristiche)</vt:lpstr>
      <vt:lpstr>Metodo esatto</vt:lpstr>
      <vt:lpstr>Simulated annealing</vt:lpstr>
      <vt:lpstr>Parametri simulated annealing</vt:lpstr>
      <vt:lpstr>Parametri simulated annealing</vt:lpstr>
      <vt:lpstr>Euristiche greedy(costruzione incrementale)</vt:lpstr>
      <vt:lpstr>Esempio euristica greedy1</vt:lpstr>
      <vt:lpstr>Implementazione</vt:lpstr>
      <vt:lpstr>Implementazione</vt:lpstr>
      <vt:lpstr>Interfaccia applicazione</vt:lpstr>
      <vt:lpstr>Dataset di test(120 istanze)</vt:lpstr>
      <vt:lpstr>Dataset di test(120 istanze)</vt:lpstr>
      <vt:lpstr>Esempio grafo primo gruppo(n=10) </vt:lpstr>
      <vt:lpstr>Esempio grafo secondo gruppo(n=15) </vt:lpstr>
      <vt:lpstr>Esempio grafo terzo gruppo(n=20) </vt:lpstr>
      <vt:lpstr>Risultati(1)</vt:lpstr>
      <vt:lpstr>Risultati(2)</vt:lpstr>
      <vt:lpstr>Risultati(3)</vt:lpstr>
      <vt:lpstr>Risultati(4)</vt:lpstr>
      <vt:lpstr>Risultati(5)</vt:lpstr>
      <vt:lpstr>Idee per sviluppi futuri</vt:lpstr>
      <vt:lpstr>Bibliography and further readings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RICCARDO MOCCIA</cp:lastModifiedBy>
  <cp:revision>16</cp:revision>
  <dcterms:created xsi:type="dcterms:W3CDTF">2026-02-19T10:25:35Z</dcterms:created>
  <dcterms:modified xsi:type="dcterms:W3CDTF">2026-02-24T00:26:52Z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2026-02-19T00:00:00Z</vt:filetime>
  </property>
  <property fmtid="{D5CDD505-2E9C-101B-9397-08002B2CF9AE}" pid="3" name="LastSaved">
    <vt:filetime>2026-02-19T00:00:00Z</vt:filetime>
  </property>
</Properties>
</file>