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648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atteso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87-4E5B-BF79-EAD7A95CA3AA}"/>
              </c:ext>
            </c:extLst>
          </c:dPt>
          <c:dPt>
            <c:idx val="1"/>
            <c:invertIfNegative val="0"/>
            <c:bubble3D val="0"/>
            <c:spPr>
              <a:solidFill>
                <a:srgbClr val="00A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87-4E5B-BF79-EAD7A95CA3AA}"/>
              </c:ext>
            </c:extLst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87-4E5B-BF79-EAD7A95CA3AA}"/>
              </c:ext>
            </c:extLst>
          </c:dPt>
          <c:cat>
            <c:strRef>
              <c:f>Sheet1!$A$2:$A$4</c:f>
              <c:strCache>
                <c:ptCount val="3"/>
                <c:pt idx="0">
                  <c:v>Greedy</c:v>
                </c:pt>
                <c:pt idx="1">
                  <c:v>SA</c:v>
                </c:pt>
                <c:pt idx="2">
                  <c:v>Ottimo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87-4E5B-BF79-EAD7A95CA3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SA</c:v>
                </c:pt>
              </c:strCache>
            </c:strRef>
          </c:tx>
          <c:spPr>
            <a:ln w="25400" cap="flat">
              <a:solidFill>
                <a:srgbClr val="2F80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80ED"/>
              </a:solidFill>
              <a:ln w="9525" cap="flat">
                <a:solidFill>
                  <a:srgbClr val="2F80E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17</c:v>
                </c:pt>
                <c:pt idx="2">
                  <c:v>15</c:v>
                </c:pt>
                <c:pt idx="3">
                  <c:v>14.2</c:v>
                </c:pt>
                <c:pt idx="4">
                  <c:v>14</c:v>
                </c:pt>
                <c:pt idx="5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03-4353-8860-F7E20AEB86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SA</c:v>
                </c:pt>
              </c:strCache>
            </c:strRef>
          </c:tx>
          <c:spPr>
            <a:ln w="25400" cap="flat">
              <a:solidFill>
                <a:srgbClr val="C7D2E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7D2E3"/>
              </a:solidFill>
              <a:ln w="9525" cap="flat">
                <a:solidFill>
                  <a:srgbClr val="C7D2E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</c:v>
                </c:pt>
                <c:pt idx="1">
                  <c:v>18.2</c:v>
                </c:pt>
                <c:pt idx="2">
                  <c:v>16.3</c:v>
                </c:pt>
                <c:pt idx="3">
                  <c:v>15.1</c:v>
                </c:pt>
                <c:pt idx="4">
                  <c:v>14.5</c:v>
                </c:pt>
                <c:pt idx="5">
                  <c:v>14.2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03-4353-8860-F7E20AEB8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223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Simulated annealing (overview reference for slide deck context): https://www.jstor.org/stable/1690046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Definizione di DAG e ordinamento topologico (background): https://en.wikipedia.org/wiki/Directed_acyclic_graph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Sequential testing con precedenze (contesto e obiettivo di costo atteso): https://www.sciencedirect.com/science/article/abs/pii/S016792361730177X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Immagine DAG (Wikipedia, licenza CC BY-SA): https://en.wikipedia.org/wiki/Directed_acyclic_graph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NP-hardness del test sequencing con precedenze generali: https://www.sciencedirect.com/science/article/abs/pii/S016792361730177X
- Ulteriore riferimento su metodi esatti/precedenze (contesto): https://www.sciencedirect.com/science/article/pii/S0377221718308890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Metodi esatti per sequential testing (DP/branch-and-price, contesto): https://www.sciencedirect.com/science/article/pii/S0377221718308890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SA (paper classico): https://www.jstor.org/stable/1690046
- Flow chart SA (CC BY 4.0 indicata nella pagina figura): https://www.researchgate.net/figure/Figure-A2-Diagram-of-Simulated-Annealing-algorithm-process_fig2_329540972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NP-hardness del problema con precedenze (citato in letteratura DSS): https://www.sciencedirect.com/science/article/abs/pii/S016792361730177X
- Metodi esatti / DP e branch-and-price (contesto): https://www.sciencedirect.com/science/article/pii/S0377221718308890
- SA (paper classico): https://www.jstor.org/stable/1690046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2F80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Testing con vincoli di precedenza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Tesina implementativa — Decision Support Systems &amp; Analytics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6327648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Moccia— a.a. 2025/26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un DAG di test/attività, trovare una sequenza (topological order) che minimizza il </a:t>
            </a:r>
            <a:r>
              <a:rPr lang="en-US" sz="1600" dirty="0" err="1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6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577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aciclico diretto (precedenze)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nodo i: probabilità di successo pᵢ e costo cᵢ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 sequenziale con stop al primo fallimento (modello base)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Vincoli: se (u→v) allora u deve precedere 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074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675120" y="17647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167128"/>
            <a:ext cx="46177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ammissibile σ = (σ₁,…,σₙ)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atteso minimo E[C(σ)]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Confronto: soluzione esatta (piccoli n) vs euristiche (grandi n)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+ export Excel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Testing Problem (con precedenze) — panoramica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Modello e funzione obiettivo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Assunzione (modello base): si eseguono i test in sequenza e ci si ferma al primo fallimento.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atteso di una sequenza 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E[C(σ)] =  Σₖ  c_{σₖ} · Π_{j&lt;k} p_{σⱼ}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54203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Interpretazione: il test k si paga solo se tutti i precedenti hanno avuto successo.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10972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60120" y="363931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di precedenza (DAG)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ogni arco (u→v):  pos(u) &lt; pos(v)  (σ è un ordinamento topologico)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trovare σ ammissibile che minimizza E[C(σ)].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obiettivo e vincoli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Esempio (DAG e sequenze ammissibili)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“diamond”: A precede B e C, e D dipende da entrambi.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852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/mnt/data/dag_wikip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2100644"/>
            <a:ext cx="2693670" cy="370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08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(esempio)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141732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94944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Sequenze ammissibili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49440" y="20574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A, B, C, 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A, C, B, 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ammissibili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B, A, ...  (viola A→B)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A, D, ...  (viola B→D e C→D)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4069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su E[C(σ)]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0" y="44805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Mettere “test economici e con alta probabilità di fallimento” prima può ridurre il costo atteso, ma le precedenze limitano le scelte.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 ordinamenti topologici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Complessità (perché servono euristiche)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vincoli di precedenza generali, il problema di minimizzare il costo atteso è NP-hard.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577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Implicazioni pratiche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(in generale) un algoritmo polinomiale noto per trovare l’ottimo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spazio di ricerca = tutti gli ordinamenti topologici (può essere enorme)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Strategia: soluzione esatta per istanze piccole + euristiche per istanze grandi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64592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r>
              <a:rPr lang="en-US"/>
              <a:t>Optimal ordering of independent tests with precedence constraints</a:t>
            </a:r>
          </a:p>
          <a:p>
            <a:r>
              <a:rPr lang="en-US" dirty="0"/>
              <a:t>Author links open overlay </a:t>
            </a:r>
            <a:r>
              <a:rPr lang="en-US" dirty="0" err="1"/>
              <a:t>panelD</a:t>
            </a:r>
            <a:r>
              <a:rPr lang="en-US" dirty="0"/>
              <a:t>. Berend </a:t>
            </a:r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6675120" y="1673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“difficile”?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3A4A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sequenze ammissibili = # ordinamenti topologici.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molti DAG cresce esponenzialmente con 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Approcci basati su local search (SA) e regole greedy diventano essenziali.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480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sperimentale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486460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Misurare qualità (gap vs ottimo) e tempi al variare di: densità archi, distribuzioni p/c, parametri SA.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Motivazione: NP-hard → servono approcci euristici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Metodo esatto (istanze piccole)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enumerare tutti gli ordinamenti topologici e scegliere quello con costo atteso minimo.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537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su nodi a indegree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6080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bestCost ← +∞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DFS(order, indeg):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|order| = n: best ← min(best, E[C(order)])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node u with indeg[u]=0 and u not used: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choose u; decrease indeg of successors; recurse; undo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1417320"/>
            <a:ext cx="4206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6809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piccolo (≈ 10–12)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utile come “ground truth”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valutare le euristiche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σ* e E[C(σ*)]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computazionale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3886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esponenziale (# topological sorts).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pratica dipende dalla “larghezza” del DAG.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esatto: enumerazione di tutti gli ordinamenti topologici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Approccio euristico: ricerca locale su sequenze ammissibili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Rappresentazione: una soluzione è un ordinamento topologico. Mossa locale: swap di due nodi se resta ammissibile.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577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81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(swap ammissibile)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due posizioni i, j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Scambia i nodi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 la mossa solo se il risultato è ancora un ordinamento topologico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 il nuovo costo atteso E[C(σ)]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675120" y="15727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&amp; 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bestCost(t) durante l’esecuzione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vs ottimo (se disponibile)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 di calcolo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(E[C(σ)] − E[C(σ*)]) / E[C(σ*)]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implementativa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4526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grafi grandi: valutazione veloce e molte iterazioni → SA/TS sono adatti.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locale: definizione di mossa e metriche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Simulated Annealing (SA)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accetta anche mosse peggiorative con una probabilità che decresce con la temperatura 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94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di accettazione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E[C(σ')]-E[C(σ)]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Δ ≤ 0: accetta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Δ &gt; 0: accetta con p = exp(−Δ / 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5394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3721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schedule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T ← α·T  (0&lt;α&lt;1)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Parametri: T_start, T_end, α, iters_per_T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qualità vs tempo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675120" y="15727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SA: schema operativo</a:t>
            </a:r>
            <a:endParaRPr lang="en-US" sz="1600" dirty="0"/>
          </a:p>
        </p:txBody>
      </p:sp>
      <p:pic>
        <p:nvPicPr>
          <p:cNvPr id="14" name="Image 0" descr="/mnt/data/sa_flow_cc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534986"/>
            <a:ext cx="5120640" cy="265670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Annealing: accettazione probabilistica e raffreddamento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Euristica Greedy (baseline veloce)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Costruzione incrementale: ad ogni passo scelgo tra i nodi “ammissibili” (indegree 0).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852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usata (esempio)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Scegli u ∈ AVAILABLE che minimizza  score(u)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score(u) = cᵤ / pᵤ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Intuizione: preferire test economici e affidabili tra quelli eseguibili ora.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(Alternativa spesso utile: cᵤ / (1−pᵤ) per spingere i “rischiosi” all’inizio).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Molto veloce, facile da spiegare.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Miopico: può “bloccare” scelte future (precedenze).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4937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94944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nel progetto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201168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per confrontare SA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ottimo “quick &amp; dirty”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utile anche come soluzione iniziale per SA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(σ_greedy, E[C])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3840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Varianti testate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42519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score=c/p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score=c/(1−p)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tie-break: costo min o indegree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Euristica greedy: costruzione incrementale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Implementazione (Python)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modulare + app Streamlit per esperimenti e visualizzazione.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035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principali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problem.py  (E[C], check topological)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load_graph.py  (JSON + validator)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exact.py  (enumerazione topological sorts)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greedy.py  (baseline)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heuristics.py  (SA + history)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app.py  (Streamlit: UI + plot + Excel)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417320"/>
            <a:ext cx="4754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132320" y="15727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&amp; 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4297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nodes: {id, p, cost}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edges: [u, v]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scelta file test/ o upload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parametri SA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grafico convergenza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risultati.xlsx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batch_results.xlsx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Python + Streamlit + PyVis + Pandas/OpenPyXL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Risultati (template): confronto costi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Inserire qui i risultati per una o più istanze: confronto tra Greedy, SA e Ottimo (se calcolabile).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7498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atteso per algoritmo (esempio)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960120" y="1965960"/>
          <a:ext cx="72237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14173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641080" y="15727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risultati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41080" y="1993392"/>
            <a:ext cx="27889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istanza: ______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nodi: ______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densità archi: ______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SA: ______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Greedy: ______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SA: ______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esatto: ______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sostituire i valori del grafico con i risultati sperimentali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Risultati (template): convergenza 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tipico: bestCost(t) vs iterazioni, con baseline Greedy e (se disponibile) ottimo.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972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 (esempio — valori fittizi)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960120" y="1965960"/>
          <a:ext cx="108813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823960" y="5349240"/>
            <a:ext cx="2743200" cy="54864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942832" y="54132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linea orizzontale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ottimo: ____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sostituire la serie con history del SA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146304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Conclusioni &amp; sviluppi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10972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 problema è NP-hard con precedenze generali → serve combinare metodi esatti (piccoli n) ed euristiche (grandi n).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 migliora sistematicamente il greedy, con qualità dipendente da (T_start, α, max_steps).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L’ottimo esatto è fondamentale come benchmark per misurare il gap.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mosse più ricche (insert, block move) e/o Tabu 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pre-processing: strengthening delle precedenze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confronto su batterie di istanze (batch) e analisi statistica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94360" y="6601968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1841</Words>
  <Application>Microsoft Office PowerPoint</Application>
  <PresentationFormat>Widescreen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Testing with Precedence Constraints</dc:title>
  <dc:subject>Decision Support Systems &amp; Analytics</dc:subject>
  <dc:creator>Sequential Testing Project</dc:creator>
  <cp:lastModifiedBy>RICCARDO MOCCIA</cp:lastModifiedBy>
  <cp:revision>3</cp:revision>
  <dcterms:created xsi:type="dcterms:W3CDTF">2025-12-21T18:16:46Z</dcterms:created>
  <dcterms:modified xsi:type="dcterms:W3CDTF">2025-12-21T19:48:17Z</dcterms:modified>
</cp:coreProperties>
</file>